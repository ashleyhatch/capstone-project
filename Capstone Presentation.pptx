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81" r:id="rId3"/>
    <p:sldId id="257" r:id="rId4"/>
    <p:sldId id="266" r:id="rId5"/>
    <p:sldId id="267" r:id="rId6"/>
    <p:sldId id="271" r:id="rId7"/>
    <p:sldId id="268" r:id="rId8"/>
    <p:sldId id="272" r:id="rId9"/>
    <p:sldId id="269" r:id="rId10"/>
    <p:sldId id="265" r:id="rId11"/>
    <p:sldId id="274" r:id="rId12"/>
    <p:sldId id="276" r:id="rId13"/>
    <p:sldId id="277" r:id="rId14"/>
    <p:sldId id="278" r:id="rId15"/>
    <p:sldId id="280" r:id="rId16"/>
    <p:sldId id="279" r:id="rId17"/>
  </p:sldIdLst>
  <p:sldSz cx="9144000" cy="5143500" type="screen16x9"/>
  <p:notesSz cx="6858000" cy="9144000"/>
  <p:embeddedFontLst>
    <p:embeddedFont>
      <p:font typeface="Alatsi" panose="020B0604020202020204" charset="0"/>
      <p:regular r:id="rId19"/>
    </p:embeddedFont>
    <p:embeddedFont>
      <p:font typeface="Barlow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324" autoAdjust="0"/>
  </p:normalViewPr>
  <p:slideViewPr>
    <p:cSldViewPr snapToGrid="0">
      <p:cViewPr varScale="1">
        <p:scale>
          <a:sx n="120" d="100"/>
          <a:sy n="120" d="100"/>
        </p:scale>
        <p:origin x="134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D0F4D320-5876-B79C-B50D-F846A3108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72d57bd4e2_0_126:notes">
            <a:extLst>
              <a:ext uri="{FF2B5EF4-FFF2-40B4-BE49-F238E27FC236}">
                <a16:creationId xmlns:a16="http://schemas.microsoft.com/office/drawing/2014/main" id="{F2F85940-D997-C8C4-D42C-F533289557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01" name="Google Shape;201;g172d57bd4e2_0_126:notes">
            <a:extLst>
              <a:ext uri="{FF2B5EF4-FFF2-40B4-BE49-F238E27FC236}">
                <a16:creationId xmlns:a16="http://schemas.microsoft.com/office/drawing/2014/main" id="{29CB60A7-E1A3-B7D2-944A-C8A8844C6D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7263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72d57bd4e2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64" name="Google Shape;64;g172d57bd4e2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3602F3D-C927-177C-705C-016409905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72d57bd4e2_0_0:notes">
            <a:extLst>
              <a:ext uri="{FF2B5EF4-FFF2-40B4-BE49-F238E27FC236}">
                <a16:creationId xmlns:a16="http://schemas.microsoft.com/office/drawing/2014/main" id="{E6300EC4-3E5E-3CCA-4114-10F0852770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73" name="Google Shape;73;g172d57bd4e2_0_0:notes">
            <a:extLst>
              <a:ext uri="{FF2B5EF4-FFF2-40B4-BE49-F238E27FC236}">
                <a16:creationId xmlns:a16="http://schemas.microsoft.com/office/drawing/2014/main" id="{792C5BAC-C433-7D81-2E15-A67F2E7EE3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Team and performance analysis – helps both players and coaches see which metrics matter, including important context like back-to-back games and home ice advantage, and which teams are performing well in different aspects of the game.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4710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B6C4ADB8-1966-3759-F7BD-14741E228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72d57bd4e2_0_50:notes">
            <a:extLst>
              <a:ext uri="{FF2B5EF4-FFF2-40B4-BE49-F238E27FC236}">
                <a16:creationId xmlns:a16="http://schemas.microsoft.com/office/drawing/2014/main" id="{FA8E3E52-DE8C-F5FC-E6C4-11344691D3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12" name="Google Shape;112;g172d57bd4e2_0_50:notes">
            <a:extLst>
              <a:ext uri="{FF2B5EF4-FFF2-40B4-BE49-F238E27FC236}">
                <a16:creationId xmlns:a16="http://schemas.microsoft.com/office/drawing/2014/main" id="{5C7C44BE-8EB4-BC10-E057-81B29FBB68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6722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BB63A228-8836-FD11-C306-7B9214C2C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72d57bd4e2_0_50:notes">
            <a:extLst>
              <a:ext uri="{FF2B5EF4-FFF2-40B4-BE49-F238E27FC236}">
                <a16:creationId xmlns:a16="http://schemas.microsoft.com/office/drawing/2014/main" id="{BCB83859-B5C0-CCE4-A17B-71B1FDECB1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12" name="Google Shape;112;g172d57bd4e2_0_50:notes">
            <a:extLst>
              <a:ext uri="{FF2B5EF4-FFF2-40B4-BE49-F238E27FC236}">
                <a16:creationId xmlns:a16="http://schemas.microsoft.com/office/drawing/2014/main" id="{F339EA0D-EB76-84EB-03B8-974491A9E0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3769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B5551002-DE40-A687-C301-D6082CE5A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72d57bd4e2_0_76:notes">
            <a:extLst>
              <a:ext uri="{FF2B5EF4-FFF2-40B4-BE49-F238E27FC236}">
                <a16:creationId xmlns:a16="http://schemas.microsoft.com/office/drawing/2014/main" id="{293824E1-DD20-511C-1041-D19003479C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3" name="Google Shape;143;g172d57bd4e2_0_76:notes">
            <a:extLst>
              <a:ext uri="{FF2B5EF4-FFF2-40B4-BE49-F238E27FC236}">
                <a16:creationId xmlns:a16="http://schemas.microsoft.com/office/drawing/2014/main" id="{019D194D-254D-D9BA-A092-66C883CD69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7294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CA4419A0-C30D-7352-34CB-4977C485E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72d57bd4e2_0_94:notes">
            <a:extLst>
              <a:ext uri="{FF2B5EF4-FFF2-40B4-BE49-F238E27FC236}">
                <a16:creationId xmlns:a16="http://schemas.microsoft.com/office/drawing/2014/main" id="{75920C42-FB73-452C-B909-FA3748C8C6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68" name="Google Shape;168;g172d57bd4e2_0_94:notes">
            <a:extLst>
              <a:ext uri="{FF2B5EF4-FFF2-40B4-BE49-F238E27FC236}">
                <a16:creationId xmlns:a16="http://schemas.microsoft.com/office/drawing/2014/main" id="{73D8B941-67AC-BB2E-906D-2E4BFB7A2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8878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F27BA267-5A3E-8BAC-B2D2-3AAF0AC6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72d57bd4e2_0_94:notes">
            <a:extLst>
              <a:ext uri="{FF2B5EF4-FFF2-40B4-BE49-F238E27FC236}">
                <a16:creationId xmlns:a16="http://schemas.microsoft.com/office/drawing/2014/main" id="{527EBF65-2DAD-CFFD-1FB6-2D7551FE50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68" name="Google Shape;168;g172d57bd4e2_0_94:notes">
            <a:extLst>
              <a:ext uri="{FF2B5EF4-FFF2-40B4-BE49-F238E27FC236}">
                <a16:creationId xmlns:a16="http://schemas.microsoft.com/office/drawing/2014/main" id="{961E8B65-2617-4F7D-2C6B-569B49328C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32665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4F116841-5EE6-60D5-B7DF-1A1CE56E0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72d57bd4e2_0_181:notes">
            <a:extLst>
              <a:ext uri="{FF2B5EF4-FFF2-40B4-BE49-F238E27FC236}">
                <a16:creationId xmlns:a16="http://schemas.microsoft.com/office/drawing/2014/main" id="{58AA3529-44E7-6137-2BB4-12BB6BDED3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64" name="Google Shape;64;g172d57bd4e2_0_181:notes">
            <a:extLst>
              <a:ext uri="{FF2B5EF4-FFF2-40B4-BE49-F238E27FC236}">
                <a16:creationId xmlns:a16="http://schemas.microsoft.com/office/drawing/2014/main" id="{369503BC-8B89-C744-1327-FC7DBFBD46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4349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C9EF2A67-F532-12E0-E0C9-78390C5DB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72d57bd4e2_0_0:notes">
            <a:extLst>
              <a:ext uri="{FF2B5EF4-FFF2-40B4-BE49-F238E27FC236}">
                <a16:creationId xmlns:a16="http://schemas.microsoft.com/office/drawing/2014/main" id="{CC439088-5A4B-0EF4-D895-7D2EEF6863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73" name="Google Shape;73;g172d57bd4e2_0_0:notes">
            <a:extLst>
              <a:ext uri="{FF2B5EF4-FFF2-40B4-BE49-F238E27FC236}">
                <a16:creationId xmlns:a16="http://schemas.microsoft.com/office/drawing/2014/main" id="{7DD0D9AE-35C9-F2B4-86F6-888BD6BFC3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Since MoneyPuck inspired whole project and arguably has best reliability, used as baseline to compare my models against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10758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2BE9D90E-CB60-C4B0-3A55-BB50F06D6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72d57bd4e2_0_126:notes">
            <a:extLst>
              <a:ext uri="{FF2B5EF4-FFF2-40B4-BE49-F238E27FC236}">
                <a16:creationId xmlns:a16="http://schemas.microsoft.com/office/drawing/2014/main" id="{BC03519A-80CE-3C88-D2DC-894AD097EE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01" name="Google Shape;201;g172d57bd4e2_0_126:notes">
            <a:extLst>
              <a:ext uri="{FF2B5EF4-FFF2-40B4-BE49-F238E27FC236}">
                <a16:creationId xmlns:a16="http://schemas.microsoft.com/office/drawing/2014/main" id="{3E2BB096-8615-C665-E7F6-D5CA467875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7410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8733669C-F095-E7DF-3274-54B4D0941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72d57bd4e2_0_76:notes">
            <a:extLst>
              <a:ext uri="{FF2B5EF4-FFF2-40B4-BE49-F238E27FC236}">
                <a16:creationId xmlns:a16="http://schemas.microsoft.com/office/drawing/2014/main" id="{2B291EDD-D599-B791-6716-59A8FFB35C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3" name="Google Shape;143;g172d57bd4e2_0_76:notes">
            <a:extLst>
              <a:ext uri="{FF2B5EF4-FFF2-40B4-BE49-F238E27FC236}">
                <a16:creationId xmlns:a16="http://schemas.microsoft.com/office/drawing/2014/main" id="{26D44764-1245-099B-5128-F00592254F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59367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7E407BE6-F8B7-252F-5392-B4A33EA1D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72d57bd4e2_0_76:notes">
            <a:extLst>
              <a:ext uri="{FF2B5EF4-FFF2-40B4-BE49-F238E27FC236}">
                <a16:creationId xmlns:a16="http://schemas.microsoft.com/office/drawing/2014/main" id="{436ADD23-3A25-31ED-C1A6-FE7A7EB42B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3" name="Google Shape;143;g172d57bd4e2_0_76:notes">
            <a:extLst>
              <a:ext uri="{FF2B5EF4-FFF2-40B4-BE49-F238E27FC236}">
                <a16:creationId xmlns:a16="http://schemas.microsoft.com/office/drawing/2014/main" id="{B8461630-6EB0-3B2F-3DE2-9ABD60594F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03611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9A5B0FAE-9E10-60D6-C28B-3AADD08D7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72d57bd4e2_0_181:notes">
            <a:extLst>
              <a:ext uri="{FF2B5EF4-FFF2-40B4-BE49-F238E27FC236}">
                <a16:creationId xmlns:a16="http://schemas.microsoft.com/office/drawing/2014/main" id="{8B163225-C711-69B3-A8B9-CD9F76ACF1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64" name="Google Shape;64;g172d57bd4e2_0_181:notes">
            <a:extLst>
              <a:ext uri="{FF2B5EF4-FFF2-40B4-BE49-F238E27FC236}">
                <a16:creationId xmlns:a16="http://schemas.microsoft.com/office/drawing/2014/main" id="{52A98FDA-4648-9E86-E9EE-27338FEA4A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80013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D9879184-B7A7-06A7-AEAC-9EE9C25F7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72d57bd4e2_0_193:notes">
            <a:extLst>
              <a:ext uri="{FF2B5EF4-FFF2-40B4-BE49-F238E27FC236}">
                <a16:creationId xmlns:a16="http://schemas.microsoft.com/office/drawing/2014/main" id="{4D910780-C986-923F-CE9B-5EE5CC491F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57" name="Google Shape;257;g172d57bd4e2_0_193:notes">
            <a:extLst>
              <a:ext uri="{FF2B5EF4-FFF2-40B4-BE49-F238E27FC236}">
                <a16:creationId xmlns:a16="http://schemas.microsoft.com/office/drawing/2014/main" id="{A830C948-D26A-C033-9FA7-CCF825AE83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1505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21.png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8.png"/><Relationship Id="rId4" Type="http://schemas.openxmlformats.org/officeDocument/2006/relationships/image" Target="../media/image23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26.jpg"/><Relationship Id="rId5" Type="http://schemas.openxmlformats.org/officeDocument/2006/relationships/image" Target="../media/image24.png"/><Relationship Id="rId10" Type="http://schemas.openxmlformats.org/officeDocument/2006/relationships/image" Target="../media/image8.png"/><Relationship Id="rId4" Type="http://schemas.openxmlformats.org/officeDocument/2006/relationships/image" Target="../media/image23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21.png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21.png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29.jp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4;p16">
            <a:extLst>
              <a:ext uri="{FF2B5EF4-FFF2-40B4-BE49-F238E27FC236}">
                <a16:creationId xmlns:a16="http://schemas.microsoft.com/office/drawing/2014/main" id="{9CF27B6B-6726-778A-8EF7-15292CE821F5}"/>
              </a:ext>
            </a:extLst>
          </p:cNvPr>
          <p:cNvPicPr preferRelativeResize="0"/>
          <p:nvPr/>
        </p:nvPicPr>
        <p:blipFill rotWithShape="1">
          <a:blip r:embed="rId3">
            <a:alphaModFix amt="6000"/>
          </a:blip>
          <a:srcRect t="20660"/>
          <a:stretch/>
        </p:blipFill>
        <p:spPr>
          <a:xfrm>
            <a:off x="0" y="0"/>
            <a:ext cx="9156751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 amt="6000"/>
          </a:blip>
          <a:srcRect t="20660"/>
          <a:stretch/>
        </p:blipFill>
        <p:spPr>
          <a:xfrm>
            <a:off x="9063631" y="0"/>
            <a:ext cx="1883677" cy="109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0275" y="1097250"/>
            <a:ext cx="4713723" cy="4046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5">
            <a:alphaModFix/>
          </a:blip>
          <a:srcRect l="58957" t="83502" r="31437"/>
          <a:stretch/>
        </p:blipFill>
        <p:spPr>
          <a:xfrm>
            <a:off x="5602987" y="4237599"/>
            <a:ext cx="836675" cy="70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 rotWithShape="1">
          <a:blip r:embed="rId5">
            <a:alphaModFix/>
          </a:blip>
          <a:srcRect r="52485"/>
          <a:stretch/>
        </p:blipFill>
        <p:spPr>
          <a:xfrm>
            <a:off x="432825" y="442875"/>
            <a:ext cx="4139177" cy="425775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783099" y="1264950"/>
            <a:ext cx="4370148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>
                <a:solidFill>
                  <a:srgbClr val="023859"/>
                </a:solidFill>
                <a:latin typeface="Alatsi"/>
                <a:ea typeface="Alatsi"/>
                <a:cs typeface="Alatsi"/>
                <a:sym typeface="Alatsi"/>
              </a:rPr>
              <a:t>Puck Predictions: Modelling Ice Hockey Games</a:t>
            </a:r>
            <a:endParaRPr sz="4000" dirty="0">
              <a:solidFill>
                <a:srgbClr val="023859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839536" y="3296850"/>
            <a:ext cx="3372600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F1736"/>
                </a:solidFill>
                <a:latin typeface="Barlow"/>
                <a:ea typeface="Barlow"/>
                <a:cs typeface="Barlow"/>
                <a:sym typeface="Barlow"/>
              </a:rPr>
              <a:t>Ashley Hatch’s Capstone Project</a:t>
            </a:r>
            <a:endParaRPr dirty="0">
              <a:solidFill>
                <a:srgbClr val="BF173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028" name="Picture 4" descr="NHL - National Hockey League Teams, Scores, Stats, News, Standings ...">
            <a:extLst>
              <a:ext uri="{FF2B5EF4-FFF2-40B4-BE49-F238E27FC236}">
                <a16:creationId xmlns:a16="http://schemas.microsoft.com/office/drawing/2014/main" id="{33A2AB21-D329-1B8F-6E9E-3D776B70B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194" y="2580131"/>
            <a:ext cx="3038424" cy="1709113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NHL Logo transparent PNG - StickPNG">
            <a:extLst>
              <a:ext uri="{FF2B5EF4-FFF2-40B4-BE49-F238E27FC236}">
                <a16:creationId xmlns:a16="http://schemas.microsoft.com/office/drawing/2014/main" id="{AD817AFE-8DE6-0F97-05B5-3836B2C38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0618" y="103909"/>
            <a:ext cx="954675" cy="109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5">
            <a:alphaModFix/>
          </a:blip>
          <a:srcRect l="68562"/>
          <a:stretch/>
        </p:blipFill>
        <p:spPr>
          <a:xfrm>
            <a:off x="6405370" y="0"/>
            <a:ext cx="2738627" cy="425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02">
          <a:extLst>
            <a:ext uri="{FF2B5EF4-FFF2-40B4-BE49-F238E27FC236}">
              <a16:creationId xmlns:a16="http://schemas.microsoft.com/office/drawing/2014/main" id="{7E035736-9FE3-7A6B-8BB1-11255F08C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9">
            <a:extLst>
              <a:ext uri="{FF2B5EF4-FFF2-40B4-BE49-F238E27FC236}">
                <a16:creationId xmlns:a16="http://schemas.microsoft.com/office/drawing/2014/main" id="{BB6549EB-F4FA-D24F-E557-DE4CAEFF1984}"/>
              </a:ext>
            </a:extLst>
          </p:cNvPr>
          <p:cNvPicPr preferRelativeResize="0"/>
          <p:nvPr/>
        </p:nvPicPr>
        <p:blipFill rotWithShape="1">
          <a:blip r:embed="rId3">
            <a:alphaModFix amt="6000"/>
          </a:blip>
          <a:srcRect t="20660"/>
          <a:stretch/>
        </p:blipFill>
        <p:spPr>
          <a:xfrm>
            <a:off x="0" y="0"/>
            <a:ext cx="9156751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>
            <a:extLst>
              <a:ext uri="{FF2B5EF4-FFF2-40B4-BE49-F238E27FC236}">
                <a16:creationId xmlns:a16="http://schemas.microsoft.com/office/drawing/2014/main" id="{4BD563F5-D787-EF90-4B7F-1FA504C2544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631872" y="0"/>
            <a:ext cx="3512126" cy="109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>
            <a:extLst>
              <a:ext uri="{FF2B5EF4-FFF2-40B4-BE49-F238E27FC236}">
                <a16:creationId xmlns:a16="http://schemas.microsoft.com/office/drawing/2014/main" id="{6BA3DB3A-D0FA-F612-8789-65B763CF974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" y="0"/>
            <a:ext cx="3512126" cy="109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9">
            <a:extLst>
              <a:ext uri="{FF2B5EF4-FFF2-40B4-BE49-F238E27FC236}">
                <a16:creationId xmlns:a16="http://schemas.microsoft.com/office/drawing/2014/main" id="{0219483E-4575-9B98-A22C-CE09F89DE2B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3182825">
            <a:off x="8156431" y="3864738"/>
            <a:ext cx="452914" cy="35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9">
            <a:extLst>
              <a:ext uri="{FF2B5EF4-FFF2-40B4-BE49-F238E27FC236}">
                <a16:creationId xmlns:a16="http://schemas.microsoft.com/office/drawing/2014/main" id="{6C557B5B-07AB-88B8-B164-6B888BFA5F8D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068179">
            <a:off x="411023" y="4593225"/>
            <a:ext cx="447450" cy="18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9">
            <a:extLst>
              <a:ext uri="{FF2B5EF4-FFF2-40B4-BE49-F238E27FC236}">
                <a16:creationId xmlns:a16="http://schemas.microsoft.com/office/drawing/2014/main" id="{942B4F83-E27D-C7CA-3F22-BC0547713D75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1480240">
            <a:off x="2278752" y="352192"/>
            <a:ext cx="815689" cy="240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9">
            <a:extLst>
              <a:ext uri="{FF2B5EF4-FFF2-40B4-BE49-F238E27FC236}">
                <a16:creationId xmlns:a16="http://schemas.microsoft.com/office/drawing/2014/main" id="{905D85E4-4F96-EFCB-572D-8A8090F7D624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42275" y="953806"/>
            <a:ext cx="484250" cy="267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9">
            <a:extLst>
              <a:ext uri="{FF2B5EF4-FFF2-40B4-BE49-F238E27FC236}">
                <a16:creationId xmlns:a16="http://schemas.microsoft.com/office/drawing/2014/main" id="{AD439F21-C66D-1999-A754-46B9F4398AA8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14023" y="4637325"/>
            <a:ext cx="5315948" cy="5061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9;p14">
            <a:extLst>
              <a:ext uri="{FF2B5EF4-FFF2-40B4-BE49-F238E27FC236}">
                <a16:creationId xmlns:a16="http://schemas.microsoft.com/office/drawing/2014/main" id="{FD5B0E01-4973-B0F9-90B5-88C55118ECDF}"/>
              </a:ext>
            </a:extLst>
          </p:cNvPr>
          <p:cNvSpPr txBox="1"/>
          <p:nvPr/>
        </p:nvSpPr>
        <p:spPr>
          <a:xfrm>
            <a:off x="2266433" y="210634"/>
            <a:ext cx="4623884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rgbClr val="BF1736"/>
                </a:solidFill>
                <a:latin typeface="Alatsi"/>
                <a:ea typeface="Alatsi"/>
                <a:cs typeface="Alatsi"/>
                <a:sym typeface="Alatsi"/>
              </a:rPr>
              <a:t>Agenda</a:t>
            </a:r>
            <a:endParaRPr sz="3200" dirty="0">
              <a:solidFill>
                <a:srgbClr val="BF1736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3" name="Google Shape;70;p14">
            <a:extLst>
              <a:ext uri="{FF2B5EF4-FFF2-40B4-BE49-F238E27FC236}">
                <a16:creationId xmlns:a16="http://schemas.microsoft.com/office/drawing/2014/main" id="{701B4247-0A1A-6B90-8BBF-C6A8CEDF8FE3}"/>
              </a:ext>
            </a:extLst>
          </p:cNvPr>
          <p:cNvSpPr txBox="1"/>
          <p:nvPr/>
        </p:nvSpPr>
        <p:spPr>
          <a:xfrm>
            <a:off x="1837787" y="1562205"/>
            <a:ext cx="5481175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 Introduction to ice hockey and predictions</a:t>
            </a:r>
          </a:p>
          <a:p>
            <a:pPr marL="171450" lvl="0" indent="-1714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 MoneyPuck and Power Rankings</a:t>
            </a:r>
          </a:p>
          <a:p>
            <a:pPr marL="171450" lvl="0" indent="-1714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 Simple and Advanced models – how they work</a:t>
            </a:r>
          </a:p>
          <a:p>
            <a:pPr marL="171450" lvl="0" indent="-1714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 Demo time!</a:t>
            </a:r>
          </a:p>
          <a:p>
            <a:pPr marL="171450" lvl="0" indent="-1714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 Model evaluation</a:t>
            </a:r>
          </a:p>
          <a:p>
            <a:pPr marL="171450" lvl="0" indent="-1714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 Strengths, limitations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375540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 amt="6000"/>
          </a:blip>
          <a:srcRect t="20660"/>
          <a:stretch/>
        </p:blipFill>
        <p:spPr>
          <a:xfrm>
            <a:off x="0" y="0"/>
            <a:ext cx="9156751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4720" y="0"/>
            <a:ext cx="191878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881" y="264725"/>
            <a:ext cx="8331039" cy="48787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1674748" y="264725"/>
            <a:ext cx="4623884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rgbClr val="BF1736"/>
                </a:solidFill>
                <a:latin typeface="Alatsi"/>
                <a:ea typeface="Alatsi"/>
                <a:cs typeface="Alatsi"/>
                <a:sym typeface="Alatsi"/>
              </a:rPr>
              <a:t>How does the National Hockey League work?</a:t>
            </a:r>
            <a:endParaRPr sz="3200" dirty="0">
              <a:solidFill>
                <a:srgbClr val="BF1736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788660" y="1345321"/>
            <a:ext cx="5445163" cy="309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Barlow"/>
                <a:ea typeface="Barlow"/>
                <a:cs typeface="Barlow"/>
                <a:sym typeface="Barlow"/>
              </a:rPr>
              <a:t>Extremely fast-paced and high intensity sport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Barlow"/>
                <a:ea typeface="Barlow"/>
                <a:cs typeface="Barlow"/>
                <a:sym typeface="Barlow"/>
              </a:rPr>
              <a:t>Two teams of ≈20 players, but only 5 skaters + 1 goaltender on ice at once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Barlow"/>
                <a:ea typeface="Barlow"/>
                <a:cs typeface="Barlow"/>
                <a:sym typeface="Barlow"/>
              </a:rPr>
              <a:t>Players aim to skate the puck into the offensive zone and shoot it past the goaltender to score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Barlow"/>
                <a:ea typeface="Barlow"/>
                <a:cs typeface="Barlow"/>
                <a:sym typeface="Barlow"/>
              </a:rPr>
              <a:t>Players play in shifts of 40-60 seconds before being substituted without play stopping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Barlow"/>
                <a:ea typeface="Barlow"/>
                <a:cs typeface="Barlow"/>
                <a:sym typeface="Barlow"/>
              </a:rPr>
              <a:t>Ties are broken by 5 minutes of 3-on-3 overtime followed by a penalty shootout</a:t>
            </a:r>
            <a:endParaRPr dirty="0"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7A3C9961-D654-60BC-AC9B-57A3C5244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4;p16">
            <a:extLst>
              <a:ext uri="{FF2B5EF4-FFF2-40B4-BE49-F238E27FC236}">
                <a16:creationId xmlns:a16="http://schemas.microsoft.com/office/drawing/2014/main" id="{451ABE84-CEC2-8B05-C94D-03D1E2FB2033}"/>
              </a:ext>
            </a:extLst>
          </p:cNvPr>
          <p:cNvPicPr preferRelativeResize="0"/>
          <p:nvPr/>
        </p:nvPicPr>
        <p:blipFill rotWithShape="1">
          <a:blip r:embed="rId3">
            <a:alphaModFix amt="6000"/>
          </a:blip>
          <a:srcRect t="20660"/>
          <a:stretch/>
        </p:blipFill>
        <p:spPr>
          <a:xfrm>
            <a:off x="0" y="0"/>
            <a:ext cx="9156751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>
            <a:extLst>
              <a:ext uri="{FF2B5EF4-FFF2-40B4-BE49-F238E27FC236}">
                <a16:creationId xmlns:a16="http://schemas.microsoft.com/office/drawing/2014/main" id="{8E19D5A1-011C-BD8F-F8CC-6DE7175BBC5E}"/>
              </a:ext>
            </a:extLst>
          </p:cNvPr>
          <p:cNvSpPr txBox="1"/>
          <p:nvPr/>
        </p:nvSpPr>
        <p:spPr>
          <a:xfrm>
            <a:off x="518984" y="1774348"/>
            <a:ext cx="4150188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Team and player performance analysis 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Entertainment and engagement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Introduction to data analysis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Informs commercial and media outlets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600" dirty="0"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03" name="Google Shape;103;p15">
            <a:extLst>
              <a:ext uri="{FF2B5EF4-FFF2-40B4-BE49-F238E27FC236}">
                <a16:creationId xmlns:a16="http://schemas.microsoft.com/office/drawing/2014/main" id="{F970BD5D-042F-FC7D-D8FE-63B8BE5169E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0850" y="0"/>
            <a:ext cx="1623149" cy="15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>
            <a:extLst>
              <a:ext uri="{FF2B5EF4-FFF2-40B4-BE49-F238E27FC236}">
                <a16:creationId xmlns:a16="http://schemas.microsoft.com/office/drawing/2014/main" id="{5A22329E-19D1-48DB-FA60-5A6418B19E4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2" y="4825223"/>
            <a:ext cx="3348066" cy="31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>
            <a:extLst>
              <a:ext uri="{FF2B5EF4-FFF2-40B4-BE49-F238E27FC236}">
                <a16:creationId xmlns:a16="http://schemas.microsoft.com/office/drawing/2014/main" id="{2B32756F-EB5D-2BFB-D7E6-9F3EAA0C33F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r="83838" b="83197"/>
          <a:stretch/>
        </p:blipFill>
        <p:spPr>
          <a:xfrm>
            <a:off x="636785" y="435453"/>
            <a:ext cx="1194926" cy="71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>
            <a:extLst>
              <a:ext uri="{FF2B5EF4-FFF2-40B4-BE49-F238E27FC236}">
                <a16:creationId xmlns:a16="http://schemas.microsoft.com/office/drawing/2014/main" id="{4BE94A8E-8F0C-6436-6DEC-D07A009A118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68253" r="8642" b="74425"/>
          <a:stretch/>
        </p:blipFill>
        <p:spPr>
          <a:xfrm rot="815692">
            <a:off x="7115779" y="484424"/>
            <a:ext cx="1477221" cy="946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35;p16">
            <a:extLst>
              <a:ext uri="{FF2B5EF4-FFF2-40B4-BE49-F238E27FC236}">
                <a16:creationId xmlns:a16="http://schemas.microsoft.com/office/drawing/2014/main" id="{2455BE6B-EAAF-23A5-1A09-CEEB618376A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6782"/>
          <a:stretch/>
        </p:blipFill>
        <p:spPr>
          <a:xfrm>
            <a:off x="4929941" y="1189675"/>
            <a:ext cx="3695075" cy="3363900"/>
          </a:xfrm>
          <a:prstGeom prst="flowChartInputOutput">
            <a:avLst/>
          </a:prstGeom>
          <a:noFill/>
          <a:ln>
            <a:noFill/>
          </a:ln>
          <a:effectLst>
            <a:softEdge rad="63500"/>
          </a:effectLst>
        </p:spPr>
      </p:pic>
      <p:pic>
        <p:nvPicPr>
          <p:cNvPr id="107" name="Google Shape;107;p15">
            <a:extLst>
              <a:ext uri="{FF2B5EF4-FFF2-40B4-BE49-F238E27FC236}">
                <a16:creationId xmlns:a16="http://schemas.microsoft.com/office/drawing/2014/main" id="{2F24535D-4FF7-B2E1-8898-793E78B1094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t="80951" r="85443" b="4499"/>
          <a:stretch/>
        </p:blipFill>
        <p:spPr>
          <a:xfrm>
            <a:off x="755488" y="4553575"/>
            <a:ext cx="1076224" cy="62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>
            <a:extLst>
              <a:ext uri="{FF2B5EF4-FFF2-40B4-BE49-F238E27FC236}">
                <a16:creationId xmlns:a16="http://schemas.microsoft.com/office/drawing/2014/main" id="{1AA7E5BE-2F00-272F-58EF-31A3C9EA0B5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89475" t="81359" b="7489"/>
          <a:stretch/>
        </p:blipFill>
        <p:spPr>
          <a:xfrm>
            <a:off x="7943375" y="3730788"/>
            <a:ext cx="778102" cy="47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>
            <a:extLst>
              <a:ext uri="{FF2B5EF4-FFF2-40B4-BE49-F238E27FC236}">
                <a16:creationId xmlns:a16="http://schemas.microsoft.com/office/drawing/2014/main" id="{197384AB-65B0-95FA-12A8-7F012DE2247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61552" t="87778" r="29740"/>
          <a:stretch/>
        </p:blipFill>
        <p:spPr>
          <a:xfrm rot="1277199">
            <a:off x="6252499" y="4521651"/>
            <a:ext cx="643748" cy="52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9;p14">
            <a:extLst>
              <a:ext uri="{FF2B5EF4-FFF2-40B4-BE49-F238E27FC236}">
                <a16:creationId xmlns:a16="http://schemas.microsoft.com/office/drawing/2014/main" id="{6C40F6F0-385F-225F-BBF7-EB182656F424}"/>
              </a:ext>
            </a:extLst>
          </p:cNvPr>
          <p:cNvSpPr txBox="1"/>
          <p:nvPr/>
        </p:nvSpPr>
        <p:spPr>
          <a:xfrm>
            <a:off x="1950489" y="280445"/>
            <a:ext cx="4623884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rgbClr val="BF1736"/>
                </a:solidFill>
                <a:latin typeface="Alatsi"/>
                <a:ea typeface="Alatsi"/>
                <a:cs typeface="Alatsi"/>
                <a:sym typeface="Alatsi"/>
              </a:rPr>
              <a:t>Why Make Predictions?</a:t>
            </a:r>
          </a:p>
        </p:txBody>
      </p:sp>
    </p:spTree>
    <p:extLst>
      <p:ext uri="{BB962C8B-B14F-4D97-AF65-F5344CB8AC3E}">
        <p14:creationId xmlns:p14="http://schemas.microsoft.com/office/powerpoint/2010/main" val="2850525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13">
          <a:extLst>
            <a:ext uri="{FF2B5EF4-FFF2-40B4-BE49-F238E27FC236}">
              <a16:creationId xmlns:a16="http://schemas.microsoft.com/office/drawing/2014/main" id="{6AE7A3F9-82DB-53A8-D766-95DA873A6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>
            <a:extLst>
              <a:ext uri="{FF2B5EF4-FFF2-40B4-BE49-F238E27FC236}">
                <a16:creationId xmlns:a16="http://schemas.microsoft.com/office/drawing/2014/main" id="{0C1FCEF6-8313-ABD4-611A-9EC31A7A3F88}"/>
              </a:ext>
            </a:extLst>
          </p:cNvPr>
          <p:cNvPicPr preferRelativeResize="0"/>
          <p:nvPr/>
        </p:nvPicPr>
        <p:blipFill rotWithShape="1">
          <a:blip r:embed="rId3">
            <a:alphaModFix amt="6000"/>
          </a:blip>
          <a:srcRect t="20660"/>
          <a:stretch/>
        </p:blipFill>
        <p:spPr>
          <a:xfrm>
            <a:off x="0" y="0"/>
            <a:ext cx="9156751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>
            <a:extLst>
              <a:ext uri="{FF2B5EF4-FFF2-40B4-BE49-F238E27FC236}">
                <a16:creationId xmlns:a16="http://schemas.microsoft.com/office/drawing/2014/main" id="{204FD85C-3E2E-9DAE-FC3D-11AB6C23599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rcRect r="51335"/>
          <a:stretch>
            <a:fillRect/>
          </a:stretch>
        </p:blipFill>
        <p:spPr>
          <a:xfrm>
            <a:off x="7740501" y="0"/>
            <a:ext cx="1416249" cy="291332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>
            <a:extLst>
              <a:ext uri="{FF2B5EF4-FFF2-40B4-BE49-F238E27FC236}">
                <a16:creationId xmlns:a16="http://schemas.microsoft.com/office/drawing/2014/main" id="{82C54E2B-0FCD-8561-8800-5B324F18A563}"/>
              </a:ext>
            </a:extLst>
          </p:cNvPr>
          <p:cNvSpPr txBox="1"/>
          <p:nvPr/>
        </p:nvSpPr>
        <p:spPr>
          <a:xfrm>
            <a:off x="1101087" y="229998"/>
            <a:ext cx="4498086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rgbClr val="BF1736"/>
                </a:solidFill>
                <a:latin typeface="Alatsi"/>
                <a:ea typeface="Alatsi"/>
                <a:cs typeface="Alatsi"/>
                <a:sym typeface="Alatsi"/>
              </a:rPr>
              <a:t>MoneyPuck</a:t>
            </a:r>
            <a:endParaRPr sz="2800" dirty="0">
              <a:solidFill>
                <a:srgbClr val="BF1736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pic>
        <p:nvPicPr>
          <p:cNvPr id="136" name="Google Shape;136;p16">
            <a:extLst>
              <a:ext uri="{FF2B5EF4-FFF2-40B4-BE49-F238E27FC236}">
                <a16:creationId xmlns:a16="http://schemas.microsoft.com/office/drawing/2014/main" id="{001FF607-CF8A-A434-B906-F49817523A3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r="83838" b="83197"/>
          <a:stretch/>
        </p:blipFill>
        <p:spPr>
          <a:xfrm rot="2700000">
            <a:off x="279906" y="4534442"/>
            <a:ext cx="630280" cy="379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>
            <a:extLst>
              <a:ext uri="{FF2B5EF4-FFF2-40B4-BE49-F238E27FC236}">
                <a16:creationId xmlns:a16="http://schemas.microsoft.com/office/drawing/2014/main" id="{615E0ACE-8030-2E89-A227-4232E00A5E2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68253" r="8642" b="74425"/>
          <a:stretch/>
        </p:blipFill>
        <p:spPr>
          <a:xfrm rot="10185449">
            <a:off x="6581927" y="151400"/>
            <a:ext cx="954001" cy="61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>
            <a:extLst>
              <a:ext uri="{FF2B5EF4-FFF2-40B4-BE49-F238E27FC236}">
                <a16:creationId xmlns:a16="http://schemas.microsoft.com/office/drawing/2014/main" id="{03A05CBD-00A4-F0EE-F3F0-989B4699B1D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80951" r="85443" b="4499"/>
          <a:stretch/>
        </p:blipFill>
        <p:spPr>
          <a:xfrm rot="1751246">
            <a:off x="198577" y="188250"/>
            <a:ext cx="1076226" cy="622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>
            <a:extLst>
              <a:ext uri="{FF2B5EF4-FFF2-40B4-BE49-F238E27FC236}">
                <a16:creationId xmlns:a16="http://schemas.microsoft.com/office/drawing/2014/main" id="{05B18958-31A2-39A4-488C-AB0A76DB08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61552" t="87778" r="29740"/>
          <a:stretch/>
        </p:blipFill>
        <p:spPr>
          <a:xfrm rot="1277199">
            <a:off x="7655599" y="4123339"/>
            <a:ext cx="643748" cy="52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5">
            <a:extLst>
              <a:ext uri="{FF2B5EF4-FFF2-40B4-BE49-F238E27FC236}">
                <a16:creationId xmlns:a16="http://schemas.microsoft.com/office/drawing/2014/main" id="{176BA008-AF1D-67D5-EA4A-B0D390FAB462}"/>
              </a:ext>
            </a:extLst>
          </p:cNvPr>
          <p:cNvSpPr txBox="1"/>
          <p:nvPr/>
        </p:nvSpPr>
        <p:spPr>
          <a:xfrm>
            <a:off x="399180" y="1113865"/>
            <a:ext cx="4150188" cy="373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Website dedicated to predicting likelihood of each team winning upcoming matches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Uses three main components to inform its predictive models</a:t>
            </a:r>
          </a:p>
          <a:p>
            <a:pPr marL="742950" lvl="1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</a:rPr>
              <a:t>Ability to win</a:t>
            </a:r>
          </a:p>
          <a:p>
            <a:pPr marL="742950" lvl="1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</a:rPr>
              <a:t>Scoring chances</a:t>
            </a:r>
          </a:p>
          <a:p>
            <a:pPr marL="742950" lvl="1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</a:rPr>
              <a:t>Goaltending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Also accounts for home ice advantage, games on back-to-back days and injuries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Simulates the season 100,000 times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  <a:latin typeface="Barlow" panose="00000500000000000000" pitchFamily="2" charset="0"/>
              <a:ea typeface="Barlow"/>
              <a:cs typeface="Barlow"/>
              <a:sym typeface="Barlow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88C0A2-3F72-DA6D-9605-F169D30F37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8127" y="1637082"/>
            <a:ext cx="3245138" cy="236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76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13">
          <a:extLst>
            <a:ext uri="{FF2B5EF4-FFF2-40B4-BE49-F238E27FC236}">
              <a16:creationId xmlns:a16="http://schemas.microsoft.com/office/drawing/2014/main" id="{365B8165-249C-1133-ACD0-9F71239B1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>
            <a:extLst>
              <a:ext uri="{FF2B5EF4-FFF2-40B4-BE49-F238E27FC236}">
                <a16:creationId xmlns:a16="http://schemas.microsoft.com/office/drawing/2014/main" id="{36A0B656-50D5-F577-BF0C-74DAFE24DE77}"/>
              </a:ext>
            </a:extLst>
          </p:cNvPr>
          <p:cNvPicPr preferRelativeResize="0"/>
          <p:nvPr/>
        </p:nvPicPr>
        <p:blipFill rotWithShape="1">
          <a:blip r:embed="rId3">
            <a:alphaModFix amt="6000"/>
          </a:blip>
          <a:srcRect t="20660"/>
          <a:stretch/>
        </p:blipFill>
        <p:spPr>
          <a:xfrm>
            <a:off x="0" y="0"/>
            <a:ext cx="9156751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>
            <a:extLst>
              <a:ext uri="{FF2B5EF4-FFF2-40B4-BE49-F238E27FC236}">
                <a16:creationId xmlns:a16="http://schemas.microsoft.com/office/drawing/2014/main" id="{6EDE169D-AFA7-45F3-11A4-013301A51D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rcRect r="51335"/>
          <a:stretch>
            <a:fillRect/>
          </a:stretch>
        </p:blipFill>
        <p:spPr>
          <a:xfrm>
            <a:off x="7740501" y="0"/>
            <a:ext cx="1416249" cy="291332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>
            <a:extLst>
              <a:ext uri="{FF2B5EF4-FFF2-40B4-BE49-F238E27FC236}">
                <a16:creationId xmlns:a16="http://schemas.microsoft.com/office/drawing/2014/main" id="{EE42D0E9-A9F9-EC13-9FAE-F6A7FB02F627}"/>
              </a:ext>
            </a:extLst>
          </p:cNvPr>
          <p:cNvSpPr txBox="1"/>
          <p:nvPr/>
        </p:nvSpPr>
        <p:spPr>
          <a:xfrm>
            <a:off x="1101087" y="139943"/>
            <a:ext cx="4498086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rgbClr val="BF1736"/>
                </a:solidFill>
                <a:latin typeface="Alatsi"/>
                <a:ea typeface="Alatsi"/>
                <a:cs typeface="Alatsi"/>
                <a:sym typeface="Alatsi"/>
              </a:rPr>
              <a:t>Power Rankings</a:t>
            </a:r>
            <a:endParaRPr sz="2800" dirty="0">
              <a:solidFill>
                <a:srgbClr val="BF1736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pic>
        <p:nvPicPr>
          <p:cNvPr id="136" name="Google Shape;136;p16">
            <a:extLst>
              <a:ext uri="{FF2B5EF4-FFF2-40B4-BE49-F238E27FC236}">
                <a16:creationId xmlns:a16="http://schemas.microsoft.com/office/drawing/2014/main" id="{2CF5066F-8A3B-3894-52C2-0CDD99BA1F0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r="83838" b="83197"/>
          <a:stretch/>
        </p:blipFill>
        <p:spPr>
          <a:xfrm rot="2700000">
            <a:off x="279906" y="4534442"/>
            <a:ext cx="630280" cy="379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>
            <a:extLst>
              <a:ext uri="{FF2B5EF4-FFF2-40B4-BE49-F238E27FC236}">
                <a16:creationId xmlns:a16="http://schemas.microsoft.com/office/drawing/2014/main" id="{5496FBD0-C8B9-8785-3156-5A33CFCF9C0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68253" r="8642" b="74425"/>
          <a:stretch/>
        </p:blipFill>
        <p:spPr>
          <a:xfrm rot="10185449">
            <a:off x="6581927" y="151400"/>
            <a:ext cx="954001" cy="61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>
            <a:extLst>
              <a:ext uri="{FF2B5EF4-FFF2-40B4-BE49-F238E27FC236}">
                <a16:creationId xmlns:a16="http://schemas.microsoft.com/office/drawing/2014/main" id="{0F10323A-9C59-9425-2F9B-103638A41DF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80951" r="85443" b="4499"/>
          <a:stretch/>
        </p:blipFill>
        <p:spPr>
          <a:xfrm rot="1751246">
            <a:off x="198577" y="188250"/>
            <a:ext cx="1076226" cy="622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>
            <a:extLst>
              <a:ext uri="{FF2B5EF4-FFF2-40B4-BE49-F238E27FC236}">
                <a16:creationId xmlns:a16="http://schemas.microsoft.com/office/drawing/2014/main" id="{1ECAA6EA-8973-E25B-10A8-A46905A390A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61552" t="87778" r="29740"/>
          <a:stretch/>
        </p:blipFill>
        <p:spPr>
          <a:xfrm rot="1277199">
            <a:off x="7655599" y="4123339"/>
            <a:ext cx="643748" cy="52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F6B03F-E781-619F-179D-E992F8F2B0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909818"/>
            <a:ext cx="9167303" cy="3026757"/>
          </a:xfrm>
          <a:prstGeom prst="rect">
            <a:avLst/>
          </a:prstGeom>
        </p:spPr>
      </p:pic>
      <p:sp>
        <p:nvSpPr>
          <p:cNvPr id="4" name="Google Shape;98;p15">
            <a:extLst>
              <a:ext uri="{FF2B5EF4-FFF2-40B4-BE49-F238E27FC236}">
                <a16:creationId xmlns:a16="http://schemas.microsoft.com/office/drawing/2014/main" id="{83BEE042-6C50-657D-5FCE-2ACBD811EEEA}"/>
              </a:ext>
            </a:extLst>
          </p:cNvPr>
          <p:cNvSpPr txBox="1"/>
          <p:nvPr/>
        </p:nvSpPr>
        <p:spPr>
          <a:xfrm>
            <a:off x="1984925" y="3954092"/>
            <a:ext cx="4813270" cy="1154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Power Score = how much better a team is than average</a:t>
            </a:r>
          </a:p>
          <a:p>
            <a:pPr marL="742950" lvl="1" indent="-285750" fontAlgn="base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GB" dirty="0">
                <a:latin typeface="Barlow" panose="00000500000000000000" pitchFamily="2" charset="0"/>
              </a:rPr>
              <a:t>E.g.</a:t>
            </a: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 10% power score = 10% better than the average team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" panose="00000500000000000000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267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44">
          <a:extLst>
            <a:ext uri="{FF2B5EF4-FFF2-40B4-BE49-F238E27FC236}">
              <a16:creationId xmlns:a16="http://schemas.microsoft.com/office/drawing/2014/main" id="{9E3FD3A1-61AA-884B-C282-E11855DFD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>
            <a:extLst>
              <a:ext uri="{FF2B5EF4-FFF2-40B4-BE49-F238E27FC236}">
                <a16:creationId xmlns:a16="http://schemas.microsoft.com/office/drawing/2014/main" id="{AC047F6F-3481-1050-3716-2DEF20AF02CA}"/>
              </a:ext>
            </a:extLst>
          </p:cNvPr>
          <p:cNvPicPr preferRelativeResize="0"/>
          <p:nvPr/>
        </p:nvPicPr>
        <p:blipFill rotWithShape="1">
          <a:blip r:embed="rId3">
            <a:alphaModFix amt="6000"/>
          </a:blip>
          <a:srcRect t="20660"/>
          <a:stretch/>
        </p:blipFill>
        <p:spPr>
          <a:xfrm>
            <a:off x="0" y="0"/>
            <a:ext cx="9156751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>
            <a:extLst>
              <a:ext uri="{FF2B5EF4-FFF2-40B4-BE49-F238E27FC236}">
                <a16:creationId xmlns:a16="http://schemas.microsoft.com/office/drawing/2014/main" id="{A07FA131-8B06-2225-FAE2-711027099A65}"/>
              </a:ext>
            </a:extLst>
          </p:cNvPr>
          <p:cNvSpPr txBox="1"/>
          <p:nvPr/>
        </p:nvSpPr>
        <p:spPr>
          <a:xfrm>
            <a:off x="2539950" y="408471"/>
            <a:ext cx="40641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rgbClr val="BF1736"/>
                </a:solidFill>
                <a:latin typeface="Alatsi"/>
                <a:ea typeface="Alatsi"/>
                <a:cs typeface="Alatsi"/>
                <a:sym typeface="Alatsi"/>
              </a:rPr>
              <a:t>My Objective</a:t>
            </a:r>
            <a:endParaRPr sz="3200" dirty="0">
              <a:solidFill>
                <a:srgbClr val="BF1736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cxnSp>
        <p:nvCxnSpPr>
          <p:cNvPr id="147" name="Google Shape;147;p17">
            <a:extLst>
              <a:ext uri="{FF2B5EF4-FFF2-40B4-BE49-F238E27FC236}">
                <a16:creationId xmlns:a16="http://schemas.microsoft.com/office/drawing/2014/main" id="{41B1DC84-2123-B47A-319F-9B7133D5F7ED}"/>
              </a:ext>
            </a:extLst>
          </p:cNvPr>
          <p:cNvCxnSpPr/>
          <p:nvPr/>
        </p:nvCxnSpPr>
        <p:spPr>
          <a:xfrm>
            <a:off x="1673538" y="1778000"/>
            <a:ext cx="0" cy="776400"/>
          </a:xfrm>
          <a:prstGeom prst="straightConnector1">
            <a:avLst/>
          </a:prstGeom>
          <a:noFill/>
          <a:ln w="9525" cap="flat" cmpd="sng">
            <a:solidFill>
              <a:srgbClr val="BF173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8" name="Google Shape;148;p17">
            <a:extLst>
              <a:ext uri="{FF2B5EF4-FFF2-40B4-BE49-F238E27FC236}">
                <a16:creationId xmlns:a16="http://schemas.microsoft.com/office/drawing/2014/main" id="{511DDF96-3BB0-A8AB-31CC-5898688B066A}"/>
              </a:ext>
            </a:extLst>
          </p:cNvPr>
          <p:cNvSpPr txBox="1"/>
          <p:nvPr/>
        </p:nvSpPr>
        <p:spPr>
          <a:xfrm>
            <a:off x="1828763" y="1912299"/>
            <a:ext cx="2568300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Alatsi"/>
                <a:ea typeface="Alatsi"/>
                <a:cs typeface="Alatsi"/>
                <a:sym typeface="Alatsi"/>
              </a:rPr>
              <a:t>Gather the Data</a:t>
            </a:r>
            <a:endParaRPr lang="en-GB" sz="1000" dirty="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664A37F8-0DB9-C753-42C1-2E7AB21EEE5D}"/>
              </a:ext>
            </a:extLst>
          </p:cNvPr>
          <p:cNvSpPr txBox="1"/>
          <p:nvPr/>
        </p:nvSpPr>
        <p:spPr>
          <a:xfrm>
            <a:off x="713988" y="1889150"/>
            <a:ext cx="853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400" dirty="0">
                <a:solidFill>
                  <a:srgbClr val="BF1736"/>
                </a:solidFill>
                <a:latin typeface="Alatsi"/>
                <a:ea typeface="Alatsi"/>
                <a:cs typeface="Alatsi"/>
                <a:sym typeface="Alatsi"/>
              </a:rPr>
              <a:t>01</a:t>
            </a:r>
            <a:endParaRPr sz="2400" dirty="0">
              <a:solidFill>
                <a:srgbClr val="BF1736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cxnSp>
        <p:nvCxnSpPr>
          <p:cNvPr id="150" name="Google Shape;150;p17">
            <a:extLst>
              <a:ext uri="{FF2B5EF4-FFF2-40B4-BE49-F238E27FC236}">
                <a16:creationId xmlns:a16="http://schemas.microsoft.com/office/drawing/2014/main" id="{77DC5506-7D22-14EF-B840-604C6F914F53}"/>
              </a:ext>
            </a:extLst>
          </p:cNvPr>
          <p:cNvCxnSpPr/>
          <p:nvPr/>
        </p:nvCxnSpPr>
        <p:spPr>
          <a:xfrm>
            <a:off x="1673538" y="3167900"/>
            <a:ext cx="0" cy="776400"/>
          </a:xfrm>
          <a:prstGeom prst="straightConnector1">
            <a:avLst/>
          </a:prstGeom>
          <a:noFill/>
          <a:ln w="9525" cap="flat" cmpd="sng">
            <a:solidFill>
              <a:srgbClr val="BF173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" name="Google Shape;151;p17">
            <a:extLst>
              <a:ext uri="{FF2B5EF4-FFF2-40B4-BE49-F238E27FC236}">
                <a16:creationId xmlns:a16="http://schemas.microsoft.com/office/drawing/2014/main" id="{B27FA1AC-920F-AC87-C2E8-0F4DE6112AE1}"/>
              </a:ext>
            </a:extLst>
          </p:cNvPr>
          <p:cNvSpPr txBox="1"/>
          <p:nvPr/>
        </p:nvSpPr>
        <p:spPr>
          <a:xfrm>
            <a:off x="1828763" y="3323032"/>
            <a:ext cx="2568300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Alatsi"/>
                <a:ea typeface="Barlow"/>
                <a:cs typeface="Alatsi"/>
                <a:sym typeface="Alatsi"/>
              </a:rPr>
              <a:t>Generate Predictions</a:t>
            </a:r>
          </a:p>
        </p:txBody>
      </p:sp>
      <p:sp>
        <p:nvSpPr>
          <p:cNvPr id="152" name="Google Shape;152;p17">
            <a:extLst>
              <a:ext uri="{FF2B5EF4-FFF2-40B4-BE49-F238E27FC236}">
                <a16:creationId xmlns:a16="http://schemas.microsoft.com/office/drawing/2014/main" id="{8CF12959-5210-C4CB-992A-99631754CAE0}"/>
              </a:ext>
            </a:extLst>
          </p:cNvPr>
          <p:cNvSpPr txBox="1"/>
          <p:nvPr/>
        </p:nvSpPr>
        <p:spPr>
          <a:xfrm>
            <a:off x="713988" y="3279050"/>
            <a:ext cx="853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400">
                <a:solidFill>
                  <a:srgbClr val="BF1736"/>
                </a:solidFill>
                <a:latin typeface="Alatsi"/>
                <a:ea typeface="Alatsi"/>
                <a:cs typeface="Alatsi"/>
                <a:sym typeface="Alatsi"/>
              </a:rPr>
              <a:t>03</a:t>
            </a:r>
            <a:endParaRPr sz="2400">
              <a:solidFill>
                <a:srgbClr val="BF1736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cxnSp>
        <p:nvCxnSpPr>
          <p:cNvPr id="153" name="Google Shape;153;p17">
            <a:extLst>
              <a:ext uri="{FF2B5EF4-FFF2-40B4-BE49-F238E27FC236}">
                <a16:creationId xmlns:a16="http://schemas.microsoft.com/office/drawing/2014/main" id="{C64EF6BB-A733-FB25-1430-981265DDB9C3}"/>
              </a:ext>
            </a:extLst>
          </p:cNvPr>
          <p:cNvCxnSpPr/>
          <p:nvPr/>
        </p:nvCxnSpPr>
        <p:spPr>
          <a:xfrm>
            <a:off x="5706488" y="1778000"/>
            <a:ext cx="0" cy="776400"/>
          </a:xfrm>
          <a:prstGeom prst="straightConnector1">
            <a:avLst/>
          </a:prstGeom>
          <a:noFill/>
          <a:ln w="9525" cap="flat" cmpd="sng">
            <a:solidFill>
              <a:srgbClr val="BF173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4" name="Google Shape;154;p17">
            <a:extLst>
              <a:ext uri="{FF2B5EF4-FFF2-40B4-BE49-F238E27FC236}">
                <a16:creationId xmlns:a16="http://schemas.microsoft.com/office/drawing/2014/main" id="{8A8062F1-E0C9-7D7E-1B9D-0C05CE66A4E9}"/>
              </a:ext>
            </a:extLst>
          </p:cNvPr>
          <p:cNvSpPr txBox="1"/>
          <p:nvPr/>
        </p:nvSpPr>
        <p:spPr>
          <a:xfrm>
            <a:off x="5861712" y="1881541"/>
            <a:ext cx="2568300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Alatsi"/>
                <a:ea typeface="Alatsi"/>
                <a:cs typeface="Alatsi"/>
                <a:sym typeface="Alatsi"/>
              </a:rPr>
              <a:t>Model the Data</a:t>
            </a:r>
            <a:endParaRPr sz="1000" dirty="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55" name="Google Shape;155;p17">
            <a:extLst>
              <a:ext uri="{FF2B5EF4-FFF2-40B4-BE49-F238E27FC236}">
                <a16:creationId xmlns:a16="http://schemas.microsoft.com/office/drawing/2014/main" id="{8EEC8E9C-8F7F-4809-E0D8-A6D2E351013F}"/>
              </a:ext>
            </a:extLst>
          </p:cNvPr>
          <p:cNvSpPr txBox="1"/>
          <p:nvPr/>
        </p:nvSpPr>
        <p:spPr>
          <a:xfrm>
            <a:off x="4746938" y="1889150"/>
            <a:ext cx="853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400">
                <a:solidFill>
                  <a:srgbClr val="BF1736"/>
                </a:solidFill>
                <a:latin typeface="Alatsi"/>
                <a:ea typeface="Alatsi"/>
                <a:cs typeface="Alatsi"/>
                <a:sym typeface="Alatsi"/>
              </a:rPr>
              <a:t>02</a:t>
            </a:r>
            <a:endParaRPr sz="2400">
              <a:solidFill>
                <a:srgbClr val="BF1736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cxnSp>
        <p:nvCxnSpPr>
          <p:cNvPr id="156" name="Google Shape;156;p17">
            <a:extLst>
              <a:ext uri="{FF2B5EF4-FFF2-40B4-BE49-F238E27FC236}">
                <a16:creationId xmlns:a16="http://schemas.microsoft.com/office/drawing/2014/main" id="{6FB74E8F-8835-A7A3-177B-554E2F91C8FE}"/>
              </a:ext>
            </a:extLst>
          </p:cNvPr>
          <p:cNvCxnSpPr/>
          <p:nvPr/>
        </p:nvCxnSpPr>
        <p:spPr>
          <a:xfrm>
            <a:off x="5706488" y="3167900"/>
            <a:ext cx="0" cy="776400"/>
          </a:xfrm>
          <a:prstGeom prst="straightConnector1">
            <a:avLst/>
          </a:prstGeom>
          <a:noFill/>
          <a:ln w="9525" cap="flat" cmpd="sng">
            <a:solidFill>
              <a:srgbClr val="BF173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6DE3415E-CE5B-C0C8-747C-B9428DDAAF06}"/>
              </a:ext>
            </a:extLst>
          </p:cNvPr>
          <p:cNvSpPr txBox="1"/>
          <p:nvPr/>
        </p:nvSpPr>
        <p:spPr>
          <a:xfrm>
            <a:off x="5861712" y="3327286"/>
            <a:ext cx="2568300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Alatsi"/>
                <a:ea typeface="Alatsi"/>
                <a:cs typeface="Alatsi"/>
                <a:sym typeface="Alatsi"/>
              </a:rPr>
              <a:t>Evaluate Predictions</a:t>
            </a:r>
          </a:p>
        </p:txBody>
      </p:sp>
      <p:sp>
        <p:nvSpPr>
          <p:cNvPr id="158" name="Google Shape;158;p17">
            <a:extLst>
              <a:ext uri="{FF2B5EF4-FFF2-40B4-BE49-F238E27FC236}">
                <a16:creationId xmlns:a16="http://schemas.microsoft.com/office/drawing/2014/main" id="{71AC6E86-9459-EC97-1BEA-2993D70C7FF6}"/>
              </a:ext>
            </a:extLst>
          </p:cNvPr>
          <p:cNvSpPr txBox="1"/>
          <p:nvPr/>
        </p:nvSpPr>
        <p:spPr>
          <a:xfrm>
            <a:off x="4746938" y="3279050"/>
            <a:ext cx="853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400">
                <a:solidFill>
                  <a:srgbClr val="BF1736"/>
                </a:solidFill>
                <a:latin typeface="Alatsi"/>
                <a:ea typeface="Alatsi"/>
                <a:cs typeface="Alatsi"/>
                <a:sym typeface="Alatsi"/>
              </a:rPr>
              <a:t>04</a:t>
            </a:r>
            <a:endParaRPr sz="2400">
              <a:solidFill>
                <a:srgbClr val="BF1736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pic>
        <p:nvPicPr>
          <p:cNvPr id="159" name="Google Shape;159;p17">
            <a:extLst>
              <a:ext uri="{FF2B5EF4-FFF2-40B4-BE49-F238E27FC236}">
                <a16:creationId xmlns:a16="http://schemas.microsoft.com/office/drawing/2014/main" id="{3632783A-79F5-D24C-7666-5B6469C6A39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3050917" cy="105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>
            <a:extLst>
              <a:ext uri="{FF2B5EF4-FFF2-40B4-BE49-F238E27FC236}">
                <a16:creationId xmlns:a16="http://schemas.microsoft.com/office/drawing/2014/main" id="{36530F9B-7745-BD56-1DBD-459A635A4D7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5925" y="4721125"/>
            <a:ext cx="3038075" cy="4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>
            <a:extLst>
              <a:ext uri="{FF2B5EF4-FFF2-40B4-BE49-F238E27FC236}">
                <a16:creationId xmlns:a16="http://schemas.microsoft.com/office/drawing/2014/main" id="{F3AA7A65-6AED-9B04-E441-8D3C754EBCB7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154663">
            <a:off x="611655" y="721950"/>
            <a:ext cx="1058489" cy="311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>
            <a:extLst>
              <a:ext uri="{FF2B5EF4-FFF2-40B4-BE49-F238E27FC236}">
                <a16:creationId xmlns:a16="http://schemas.microsoft.com/office/drawing/2014/main" id="{231BAC94-6002-2EB9-253D-27FD527D2A22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489927">
            <a:off x="7133184" y="372745"/>
            <a:ext cx="573508" cy="448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>
            <a:extLst>
              <a:ext uri="{FF2B5EF4-FFF2-40B4-BE49-F238E27FC236}">
                <a16:creationId xmlns:a16="http://schemas.microsoft.com/office/drawing/2014/main" id="{EDD84F1D-8DB2-445B-176C-3828BDB97FB5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9116243">
            <a:off x="1085351" y="4245881"/>
            <a:ext cx="322500" cy="424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>
            <a:extLst>
              <a:ext uri="{FF2B5EF4-FFF2-40B4-BE49-F238E27FC236}">
                <a16:creationId xmlns:a16="http://schemas.microsoft.com/office/drawing/2014/main" id="{BA9B3CDE-15AE-3D65-5761-0B4A38461DB5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27550" y="4626506"/>
            <a:ext cx="484250" cy="267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>
            <a:extLst>
              <a:ext uri="{FF2B5EF4-FFF2-40B4-BE49-F238E27FC236}">
                <a16:creationId xmlns:a16="http://schemas.microsoft.com/office/drawing/2014/main" id="{1E1B93A3-7EFD-EAE5-8DE4-8C0CF4DC7B36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-2347598">
            <a:off x="8244173" y="1004875"/>
            <a:ext cx="447450" cy="185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26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/>
      <p:bldP spid="149" grpId="0"/>
      <p:bldP spid="151" grpId="0"/>
      <p:bldP spid="152" grpId="0"/>
      <p:bldP spid="154" grpId="0"/>
      <p:bldP spid="155" grpId="0"/>
      <p:bldP spid="157" grpId="0"/>
      <p:bldP spid="1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69">
          <a:extLst>
            <a:ext uri="{FF2B5EF4-FFF2-40B4-BE49-F238E27FC236}">
              <a16:creationId xmlns:a16="http://schemas.microsoft.com/office/drawing/2014/main" id="{26A365AE-01A4-237C-223A-2743E4952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>
            <a:extLst>
              <a:ext uri="{FF2B5EF4-FFF2-40B4-BE49-F238E27FC236}">
                <a16:creationId xmlns:a16="http://schemas.microsoft.com/office/drawing/2014/main" id="{A8FC9929-CCA8-6F73-F611-4E28573ED4FF}"/>
              </a:ext>
            </a:extLst>
          </p:cNvPr>
          <p:cNvPicPr preferRelativeResize="0"/>
          <p:nvPr/>
        </p:nvPicPr>
        <p:blipFill rotWithShape="1">
          <a:blip r:embed="rId3">
            <a:alphaModFix amt="6000"/>
          </a:blip>
          <a:srcRect t="20660"/>
          <a:stretch/>
        </p:blipFill>
        <p:spPr>
          <a:xfrm>
            <a:off x="0" y="0"/>
            <a:ext cx="9156751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>
            <a:extLst>
              <a:ext uri="{FF2B5EF4-FFF2-40B4-BE49-F238E27FC236}">
                <a16:creationId xmlns:a16="http://schemas.microsoft.com/office/drawing/2014/main" id="{8C84C0D6-1DFB-9DB1-0715-7FD5B747E91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375850"/>
            <a:ext cx="2147900" cy="76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>
            <a:extLst>
              <a:ext uri="{FF2B5EF4-FFF2-40B4-BE49-F238E27FC236}">
                <a16:creationId xmlns:a16="http://schemas.microsoft.com/office/drawing/2014/main" id="{4E4F0F01-5883-D4A4-4543-47A2D8258CE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6900" y="0"/>
            <a:ext cx="2407100" cy="196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>
            <a:extLst>
              <a:ext uri="{FF2B5EF4-FFF2-40B4-BE49-F238E27FC236}">
                <a16:creationId xmlns:a16="http://schemas.microsoft.com/office/drawing/2014/main" id="{9F59C9D0-85EC-DAD1-805F-ACFCD230AD51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154663">
            <a:off x="356705" y="658200"/>
            <a:ext cx="1058489" cy="311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>
            <a:extLst>
              <a:ext uri="{FF2B5EF4-FFF2-40B4-BE49-F238E27FC236}">
                <a16:creationId xmlns:a16="http://schemas.microsoft.com/office/drawing/2014/main" id="{DEE04E21-7A81-0D36-BD53-7676E2A2F8F3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4992991">
            <a:off x="411397" y="313345"/>
            <a:ext cx="573509" cy="448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>
            <a:extLst>
              <a:ext uri="{FF2B5EF4-FFF2-40B4-BE49-F238E27FC236}">
                <a16:creationId xmlns:a16="http://schemas.microsoft.com/office/drawing/2014/main" id="{6A1179B6-B8B6-C72D-C4EF-7FCA537DD715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10251232">
            <a:off x="1129976" y="4519931"/>
            <a:ext cx="322500" cy="424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>
            <a:extLst>
              <a:ext uri="{FF2B5EF4-FFF2-40B4-BE49-F238E27FC236}">
                <a16:creationId xmlns:a16="http://schemas.microsoft.com/office/drawing/2014/main" id="{8CBCBFD6-A795-2190-DE64-2C89BD21FBD8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39030" y="3986426"/>
            <a:ext cx="484250" cy="267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>
            <a:extLst>
              <a:ext uri="{FF2B5EF4-FFF2-40B4-BE49-F238E27FC236}">
                <a16:creationId xmlns:a16="http://schemas.microsoft.com/office/drawing/2014/main" id="{6E4A9E4C-0B32-A9A1-386A-B4E5BB239FCE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-2347598">
            <a:off x="8171298" y="508425"/>
            <a:ext cx="447450" cy="1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5">
            <a:extLst>
              <a:ext uri="{FF2B5EF4-FFF2-40B4-BE49-F238E27FC236}">
                <a16:creationId xmlns:a16="http://schemas.microsoft.com/office/drawing/2014/main" id="{B4AD1D37-1D02-FE68-317B-7599E2351565}"/>
              </a:ext>
            </a:extLst>
          </p:cNvPr>
          <p:cNvSpPr txBox="1"/>
          <p:nvPr/>
        </p:nvSpPr>
        <p:spPr>
          <a:xfrm>
            <a:off x="441819" y="1177398"/>
            <a:ext cx="4491002" cy="309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Uses data from 2025-2026 season (so far!)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Calculates likelihood of either team winning an upcoming game based on difference between their power scores</a:t>
            </a: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GB" b="1" u="sng" dirty="0">
              <a:solidFill>
                <a:schemeClr val="tx1"/>
              </a:solidFill>
              <a:latin typeface="Barlow" panose="00000500000000000000" pitchFamily="2" charset="0"/>
              <a:ea typeface="Barlow"/>
              <a:cs typeface="Barlow"/>
              <a:sym typeface="Barlow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u="sng" dirty="0">
                <a:solidFill>
                  <a:schemeClr val="tx1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Limitations: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Does not account for home/away teams, back-to-back games, takes average goaltender performance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  <a:latin typeface="Barlow" panose="00000500000000000000" pitchFamily="2" charset="0"/>
              <a:ea typeface="Barlow"/>
              <a:cs typeface="Barlow"/>
              <a:sym typeface="Barlow"/>
            </a:endParaRPr>
          </a:p>
        </p:txBody>
      </p:sp>
      <p:sp>
        <p:nvSpPr>
          <p:cNvPr id="3" name="Google Shape;146;p17">
            <a:extLst>
              <a:ext uri="{FF2B5EF4-FFF2-40B4-BE49-F238E27FC236}">
                <a16:creationId xmlns:a16="http://schemas.microsoft.com/office/drawing/2014/main" id="{0005B43E-C070-EBBC-C89C-AE85E2E058F4}"/>
              </a:ext>
            </a:extLst>
          </p:cNvPr>
          <p:cNvSpPr txBox="1"/>
          <p:nvPr/>
        </p:nvSpPr>
        <p:spPr>
          <a:xfrm>
            <a:off x="2539950" y="408471"/>
            <a:ext cx="40641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rgbClr val="BF1736"/>
                </a:solidFill>
                <a:latin typeface="Alatsi"/>
                <a:ea typeface="Alatsi"/>
                <a:cs typeface="Alatsi"/>
                <a:sym typeface="Alatsi"/>
              </a:rPr>
              <a:t>Simple Model</a:t>
            </a:r>
            <a:endParaRPr sz="3200" dirty="0">
              <a:solidFill>
                <a:srgbClr val="BF1736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E20FB3-C586-BF35-C5B4-B6A2E2CBC0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45572" y="1882083"/>
            <a:ext cx="3921769" cy="192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13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69">
          <a:extLst>
            <a:ext uri="{FF2B5EF4-FFF2-40B4-BE49-F238E27FC236}">
              <a16:creationId xmlns:a16="http://schemas.microsoft.com/office/drawing/2014/main" id="{E9722908-FADA-CB20-DA7E-6CEF57811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>
            <a:extLst>
              <a:ext uri="{FF2B5EF4-FFF2-40B4-BE49-F238E27FC236}">
                <a16:creationId xmlns:a16="http://schemas.microsoft.com/office/drawing/2014/main" id="{86DA569C-174A-7D92-EB0D-765D0EBF8454}"/>
              </a:ext>
            </a:extLst>
          </p:cNvPr>
          <p:cNvPicPr preferRelativeResize="0"/>
          <p:nvPr/>
        </p:nvPicPr>
        <p:blipFill rotWithShape="1">
          <a:blip r:embed="rId3">
            <a:alphaModFix amt="6000"/>
          </a:blip>
          <a:srcRect t="20660"/>
          <a:stretch/>
        </p:blipFill>
        <p:spPr>
          <a:xfrm>
            <a:off x="0" y="0"/>
            <a:ext cx="9156751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>
            <a:extLst>
              <a:ext uri="{FF2B5EF4-FFF2-40B4-BE49-F238E27FC236}">
                <a16:creationId xmlns:a16="http://schemas.microsoft.com/office/drawing/2014/main" id="{4CA5BC0C-4711-397F-A37A-E1279944BB6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375850"/>
            <a:ext cx="2147900" cy="76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>
            <a:extLst>
              <a:ext uri="{FF2B5EF4-FFF2-40B4-BE49-F238E27FC236}">
                <a16:creationId xmlns:a16="http://schemas.microsoft.com/office/drawing/2014/main" id="{71B33C6B-C443-5DA0-84DD-64FC3E886E4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6900" y="0"/>
            <a:ext cx="2407100" cy="196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>
            <a:extLst>
              <a:ext uri="{FF2B5EF4-FFF2-40B4-BE49-F238E27FC236}">
                <a16:creationId xmlns:a16="http://schemas.microsoft.com/office/drawing/2014/main" id="{2FC88630-3D7C-E24E-913E-C9055F37B2FD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154663">
            <a:off x="356705" y="658200"/>
            <a:ext cx="1058489" cy="311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>
            <a:extLst>
              <a:ext uri="{FF2B5EF4-FFF2-40B4-BE49-F238E27FC236}">
                <a16:creationId xmlns:a16="http://schemas.microsoft.com/office/drawing/2014/main" id="{D2502541-56B2-DD02-238D-A7D8D842D5F5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4992991">
            <a:off x="411397" y="313345"/>
            <a:ext cx="573509" cy="448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>
            <a:extLst>
              <a:ext uri="{FF2B5EF4-FFF2-40B4-BE49-F238E27FC236}">
                <a16:creationId xmlns:a16="http://schemas.microsoft.com/office/drawing/2014/main" id="{547449FB-888A-EC90-AD8C-7CB43DB53C40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10251232">
            <a:off x="1129976" y="4519931"/>
            <a:ext cx="322500" cy="424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>
            <a:extLst>
              <a:ext uri="{FF2B5EF4-FFF2-40B4-BE49-F238E27FC236}">
                <a16:creationId xmlns:a16="http://schemas.microsoft.com/office/drawing/2014/main" id="{837AF75F-196C-0F0B-BADF-9CE2A270C504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96230" y="4783156"/>
            <a:ext cx="484250" cy="267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>
            <a:extLst>
              <a:ext uri="{FF2B5EF4-FFF2-40B4-BE49-F238E27FC236}">
                <a16:creationId xmlns:a16="http://schemas.microsoft.com/office/drawing/2014/main" id="{05BEC572-EFAC-30DF-BDA9-E72571B82C71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-2347598">
            <a:off x="8171298" y="508425"/>
            <a:ext cx="447450" cy="1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5">
            <a:extLst>
              <a:ext uri="{FF2B5EF4-FFF2-40B4-BE49-F238E27FC236}">
                <a16:creationId xmlns:a16="http://schemas.microsoft.com/office/drawing/2014/main" id="{868D892E-B575-EFAD-150D-D896094F1622}"/>
              </a:ext>
            </a:extLst>
          </p:cNvPr>
          <p:cNvSpPr txBox="1"/>
          <p:nvPr/>
        </p:nvSpPr>
        <p:spPr>
          <a:xfrm>
            <a:off x="441819" y="1206696"/>
            <a:ext cx="5425582" cy="309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Uses same data as simple model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Extended to allow for user to specify which team is home/away, which goaltender is playing, and whether either team played on the previous day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According to MoneyPuck:</a:t>
            </a:r>
          </a:p>
          <a:p>
            <a:pPr marL="742950" lvl="1" indent="-285750" fontAlgn="base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Home teams win ≈54% of games</a:t>
            </a:r>
          </a:p>
          <a:p>
            <a:pPr marL="742950" lvl="1" indent="-285750" fontAlgn="base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Playing back-to-back games when your opponent has had rest decreases win rate by ≈4% </a:t>
            </a:r>
          </a:p>
          <a:p>
            <a:pPr marL="1714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Model’s increased depth should improve prediction accuracy</a:t>
            </a:r>
          </a:p>
        </p:txBody>
      </p:sp>
      <p:sp>
        <p:nvSpPr>
          <p:cNvPr id="3" name="Google Shape;146;p17">
            <a:extLst>
              <a:ext uri="{FF2B5EF4-FFF2-40B4-BE49-F238E27FC236}">
                <a16:creationId xmlns:a16="http://schemas.microsoft.com/office/drawing/2014/main" id="{7F0D324B-CDFD-40B3-2DD1-2732F982FC93}"/>
              </a:ext>
            </a:extLst>
          </p:cNvPr>
          <p:cNvSpPr txBox="1"/>
          <p:nvPr/>
        </p:nvSpPr>
        <p:spPr>
          <a:xfrm>
            <a:off x="2539950" y="408471"/>
            <a:ext cx="40641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rgbClr val="BF1736"/>
                </a:solidFill>
                <a:latin typeface="Alatsi"/>
                <a:ea typeface="Alatsi"/>
                <a:cs typeface="Alatsi"/>
                <a:sym typeface="Alatsi"/>
              </a:rPr>
              <a:t>Advanced Model</a:t>
            </a:r>
            <a:endParaRPr sz="3200" dirty="0">
              <a:solidFill>
                <a:srgbClr val="BF1736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pic>
        <p:nvPicPr>
          <p:cNvPr id="9" name="Google Shape;56;p13">
            <a:extLst>
              <a:ext uri="{FF2B5EF4-FFF2-40B4-BE49-F238E27FC236}">
                <a16:creationId xmlns:a16="http://schemas.microsoft.com/office/drawing/2014/main" id="{C5D05A16-1640-7465-A0F5-D301FE7E6060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 l="15141" r="6892"/>
          <a:stretch/>
        </p:blipFill>
        <p:spPr>
          <a:xfrm flipH="1">
            <a:off x="5964300" y="1673301"/>
            <a:ext cx="3179700" cy="3058800"/>
          </a:xfrm>
          <a:prstGeom prst="parallelogram">
            <a:avLst>
              <a:gd name="adj" fmla="val 25000"/>
            </a:avLst>
          </a:prstGeom>
          <a:noFill/>
          <a:ln>
            <a:noFill/>
          </a:ln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503100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690ED1F1-0749-AB94-2A50-599B9D35D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>
            <a:extLst>
              <a:ext uri="{FF2B5EF4-FFF2-40B4-BE49-F238E27FC236}">
                <a16:creationId xmlns:a16="http://schemas.microsoft.com/office/drawing/2014/main" id="{8E787DBE-6122-2587-85D5-93D8C4A8B7A4}"/>
              </a:ext>
            </a:extLst>
          </p:cNvPr>
          <p:cNvPicPr preferRelativeResize="0"/>
          <p:nvPr/>
        </p:nvPicPr>
        <p:blipFill rotWithShape="1">
          <a:blip r:embed="rId3">
            <a:alphaModFix amt="6000"/>
          </a:blip>
          <a:srcRect t="20660"/>
          <a:stretch/>
        </p:blipFill>
        <p:spPr>
          <a:xfrm>
            <a:off x="0" y="0"/>
            <a:ext cx="9156751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4E0985FE-C142-488E-20A7-D43E6E474CF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4720" y="0"/>
            <a:ext cx="191878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>
            <a:extLst>
              <a:ext uri="{FF2B5EF4-FFF2-40B4-BE49-F238E27FC236}">
                <a16:creationId xmlns:a16="http://schemas.microsoft.com/office/drawing/2014/main" id="{487DF311-23C2-AC65-38BE-11D9C3D4609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8660" y="317425"/>
            <a:ext cx="7987651" cy="450865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33C7BBD8-192D-6196-5086-B6E56B1B0307}"/>
              </a:ext>
            </a:extLst>
          </p:cNvPr>
          <p:cNvSpPr txBox="1"/>
          <p:nvPr/>
        </p:nvSpPr>
        <p:spPr>
          <a:xfrm>
            <a:off x="1954640" y="2171655"/>
            <a:ext cx="40641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>
                <a:solidFill>
                  <a:srgbClr val="BF1736"/>
                </a:solidFill>
                <a:latin typeface="Alatsi"/>
                <a:ea typeface="Alatsi"/>
                <a:cs typeface="Alatsi"/>
                <a:sym typeface="Alatsi"/>
              </a:rPr>
              <a:t>Demo Time!</a:t>
            </a:r>
            <a:endParaRPr sz="4000" dirty="0">
              <a:solidFill>
                <a:srgbClr val="BF1736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</p:spTree>
    <p:extLst>
      <p:ext uri="{BB962C8B-B14F-4D97-AF65-F5344CB8AC3E}">
        <p14:creationId xmlns:p14="http://schemas.microsoft.com/office/powerpoint/2010/main" val="885473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F4DC1A90-C97C-416C-3A17-34C77834C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4;p16">
            <a:extLst>
              <a:ext uri="{FF2B5EF4-FFF2-40B4-BE49-F238E27FC236}">
                <a16:creationId xmlns:a16="http://schemas.microsoft.com/office/drawing/2014/main" id="{4DF596A6-FFD7-DCCD-7F45-81D07F14BD5E}"/>
              </a:ext>
            </a:extLst>
          </p:cNvPr>
          <p:cNvPicPr preferRelativeResize="0"/>
          <p:nvPr/>
        </p:nvPicPr>
        <p:blipFill rotWithShape="1">
          <a:blip r:embed="rId3">
            <a:alphaModFix amt="6000"/>
          </a:blip>
          <a:srcRect t="20660"/>
          <a:stretch/>
        </p:blipFill>
        <p:spPr>
          <a:xfrm>
            <a:off x="0" y="0"/>
            <a:ext cx="9156751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>
            <a:extLst>
              <a:ext uri="{FF2B5EF4-FFF2-40B4-BE49-F238E27FC236}">
                <a16:creationId xmlns:a16="http://schemas.microsoft.com/office/drawing/2014/main" id="{B57FA72C-9BFA-CDF4-E1E1-8C42CD548EB2}"/>
              </a:ext>
            </a:extLst>
          </p:cNvPr>
          <p:cNvSpPr txBox="1"/>
          <p:nvPr/>
        </p:nvSpPr>
        <p:spPr>
          <a:xfrm>
            <a:off x="421811" y="1699493"/>
            <a:ext cx="5812733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Tested on 30 real games from Monday 1</a:t>
            </a:r>
            <a:r>
              <a:rPr lang="en-GB" sz="1600" baseline="30000" dirty="0">
                <a:latin typeface="Barlow"/>
                <a:ea typeface="Barlow"/>
                <a:cs typeface="Barlow"/>
                <a:sym typeface="Barlow"/>
              </a:rPr>
              <a:t>st</a:t>
            </a: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 December to Thursday 4</a:t>
            </a:r>
            <a:r>
              <a:rPr lang="en-GB" sz="1600" baseline="30000" dirty="0">
                <a:latin typeface="Barlow"/>
                <a:ea typeface="Barlow"/>
                <a:cs typeface="Barlow"/>
                <a:sym typeface="Barlow"/>
              </a:rPr>
              <a:t>th</a:t>
            </a: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 December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MoneyPuck treated as baseline to drive comparisons</a:t>
            </a:r>
          </a:p>
          <a:p>
            <a:pPr marL="742950" lvl="1" indent="-285750" fontAlgn="base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Simple model agreed with MoneyPuck on 19/30 games</a:t>
            </a:r>
          </a:p>
          <a:p>
            <a:pPr marL="742950" lvl="1" indent="-285750" fontAlgn="base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Advanced model agreed with MoneyPuck on 21/30 games</a:t>
            </a:r>
          </a:p>
          <a:p>
            <a:pPr marL="1714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Both models significantly more conservative than MoneyPuck</a:t>
            </a:r>
          </a:p>
          <a:p>
            <a:pPr marL="1714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 dirty="0"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03" name="Google Shape;103;p15">
            <a:extLst>
              <a:ext uri="{FF2B5EF4-FFF2-40B4-BE49-F238E27FC236}">
                <a16:creationId xmlns:a16="http://schemas.microsoft.com/office/drawing/2014/main" id="{CEE839C4-FB05-D24A-A5F8-CC5C2EFCB48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0850" y="0"/>
            <a:ext cx="1623149" cy="15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>
            <a:extLst>
              <a:ext uri="{FF2B5EF4-FFF2-40B4-BE49-F238E27FC236}">
                <a16:creationId xmlns:a16="http://schemas.microsoft.com/office/drawing/2014/main" id="{B4FBE5DC-805E-0FC7-9896-7856169BA10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2" y="4825223"/>
            <a:ext cx="3348066" cy="31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>
            <a:extLst>
              <a:ext uri="{FF2B5EF4-FFF2-40B4-BE49-F238E27FC236}">
                <a16:creationId xmlns:a16="http://schemas.microsoft.com/office/drawing/2014/main" id="{306745A0-F947-6444-E8A5-AD856A8A499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r="83838" b="83197"/>
          <a:stretch/>
        </p:blipFill>
        <p:spPr>
          <a:xfrm>
            <a:off x="636785" y="435453"/>
            <a:ext cx="1194926" cy="71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>
            <a:extLst>
              <a:ext uri="{FF2B5EF4-FFF2-40B4-BE49-F238E27FC236}">
                <a16:creationId xmlns:a16="http://schemas.microsoft.com/office/drawing/2014/main" id="{F84251D9-31CC-8018-E5BF-BD60B003B53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68253" r="8642" b="74425"/>
          <a:stretch/>
        </p:blipFill>
        <p:spPr>
          <a:xfrm rot="815692">
            <a:off x="7115779" y="484424"/>
            <a:ext cx="1477221" cy="946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>
            <a:extLst>
              <a:ext uri="{FF2B5EF4-FFF2-40B4-BE49-F238E27FC236}">
                <a16:creationId xmlns:a16="http://schemas.microsoft.com/office/drawing/2014/main" id="{57B0385A-783E-E1E7-021C-5E01FC11C2C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t="80951" r="85443" b="4499"/>
          <a:stretch/>
        </p:blipFill>
        <p:spPr>
          <a:xfrm>
            <a:off x="755488" y="4553575"/>
            <a:ext cx="1076224" cy="62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>
            <a:extLst>
              <a:ext uri="{FF2B5EF4-FFF2-40B4-BE49-F238E27FC236}">
                <a16:creationId xmlns:a16="http://schemas.microsoft.com/office/drawing/2014/main" id="{8E605914-B74C-BBA7-E82D-93D1FC53286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89475" t="81359" b="7489"/>
          <a:stretch/>
        </p:blipFill>
        <p:spPr>
          <a:xfrm>
            <a:off x="7943375" y="3730788"/>
            <a:ext cx="778102" cy="47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>
            <a:extLst>
              <a:ext uri="{FF2B5EF4-FFF2-40B4-BE49-F238E27FC236}">
                <a16:creationId xmlns:a16="http://schemas.microsoft.com/office/drawing/2014/main" id="{981FAD2A-4D58-CF16-4749-0B587DF304E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61552" t="87778" r="29740"/>
          <a:stretch/>
        </p:blipFill>
        <p:spPr>
          <a:xfrm rot="1277199">
            <a:off x="6252499" y="4521651"/>
            <a:ext cx="643748" cy="52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9;p14">
            <a:extLst>
              <a:ext uri="{FF2B5EF4-FFF2-40B4-BE49-F238E27FC236}">
                <a16:creationId xmlns:a16="http://schemas.microsoft.com/office/drawing/2014/main" id="{AD27138A-1671-4E88-1AD3-FEA6D6C517E3}"/>
              </a:ext>
            </a:extLst>
          </p:cNvPr>
          <p:cNvSpPr txBox="1"/>
          <p:nvPr/>
        </p:nvSpPr>
        <p:spPr>
          <a:xfrm>
            <a:off x="1950489" y="176534"/>
            <a:ext cx="4623884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rgbClr val="BF1736"/>
                </a:solidFill>
                <a:latin typeface="Alatsi"/>
                <a:ea typeface="Alatsi"/>
                <a:cs typeface="Alatsi"/>
                <a:sym typeface="Alatsi"/>
              </a:rPr>
              <a:t>Evaluation – How did the Models do?</a:t>
            </a:r>
          </a:p>
        </p:txBody>
      </p:sp>
    </p:spTree>
    <p:extLst>
      <p:ext uri="{BB962C8B-B14F-4D97-AF65-F5344CB8AC3E}">
        <p14:creationId xmlns:p14="http://schemas.microsoft.com/office/powerpoint/2010/main" val="175094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02">
          <a:extLst>
            <a:ext uri="{FF2B5EF4-FFF2-40B4-BE49-F238E27FC236}">
              <a16:creationId xmlns:a16="http://schemas.microsoft.com/office/drawing/2014/main" id="{E5A14D17-6B57-F6D5-AF2B-17A837B17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19">
            <a:extLst>
              <a:ext uri="{FF2B5EF4-FFF2-40B4-BE49-F238E27FC236}">
                <a16:creationId xmlns:a16="http://schemas.microsoft.com/office/drawing/2014/main" id="{12EA90A3-49AA-B75A-4209-A85F7BA962D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182825">
            <a:off x="8156431" y="3864738"/>
            <a:ext cx="452914" cy="35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9">
            <a:extLst>
              <a:ext uri="{FF2B5EF4-FFF2-40B4-BE49-F238E27FC236}">
                <a16:creationId xmlns:a16="http://schemas.microsoft.com/office/drawing/2014/main" id="{E69153D1-F427-9C60-DB21-E441B549614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80240">
            <a:off x="406259" y="439726"/>
            <a:ext cx="815689" cy="240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9">
            <a:extLst>
              <a:ext uri="{FF2B5EF4-FFF2-40B4-BE49-F238E27FC236}">
                <a16:creationId xmlns:a16="http://schemas.microsoft.com/office/drawing/2014/main" id="{1CE7FEA2-0533-6337-45FC-5D810329D17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42275" y="953806"/>
            <a:ext cx="484250" cy="26741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9;p14">
            <a:extLst>
              <a:ext uri="{FF2B5EF4-FFF2-40B4-BE49-F238E27FC236}">
                <a16:creationId xmlns:a16="http://schemas.microsoft.com/office/drawing/2014/main" id="{6F556D9E-35B3-C407-F40E-1819685DCFBE}"/>
              </a:ext>
            </a:extLst>
          </p:cNvPr>
          <p:cNvSpPr txBox="1"/>
          <p:nvPr/>
        </p:nvSpPr>
        <p:spPr>
          <a:xfrm>
            <a:off x="1950489" y="176534"/>
            <a:ext cx="4623884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rgbClr val="BF1736"/>
                </a:solidFill>
                <a:latin typeface="Alatsi"/>
                <a:ea typeface="Alatsi"/>
                <a:cs typeface="Alatsi"/>
                <a:sym typeface="Alatsi"/>
              </a:rPr>
              <a:t>Evaluation – How did the Models do?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82427E-B3D4-E145-D229-56D896AE84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393" y="1346055"/>
            <a:ext cx="5167311" cy="3668440"/>
          </a:xfrm>
          <a:prstGeom prst="rect">
            <a:avLst/>
          </a:prstGeom>
        </p:spPr>
      </p:pic>
      <p:sp>
        <p:nvSpPr>
          <p:cNvPr id="10" name="Google Shape;98;p15">
            <a:extLst>
              <a:ext uri="{FF2B5EF4-FFF2-40B4-BE49-F238E27FC236}">
                <a16:creationId xmlns:a16="http://schemas.microsoft.com/office/drawing/2014/main" id="{1B8EA05E-7FE5-E92E-9122-0E798C70D0E9}"/>
              </a:ext>
            </a:extLst>
          </p:cNvPr>
          <p:cNvSpPr txBox="1"/>
          <p:nvPr/>
        </p:nvSpPr>
        <p:spPr>
          <a:xfrm>
            <a:off x="5707320" y="2017076"/>
            <a:ext cx="3436680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u="sng" dirty="0">
                <a:latin typeface="Barlow"/>
                <a:ea typeface="Barlow"/>
                <a:cs typeface="Barlow"/>
                <a:sym typeface="Barlow"/>
              </a:rPr>
              <a:t>Model Accuracies over 30 games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MoneyPuck: 33.3% accuracy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Simple model: 36.7% accuracy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Advanced model: 46.7% accuracy</a:t>
            </a:r>
          </a:p>
        </p:txBody>
      </p:sp>
    </p:spTree>
    <p:extLst>
      <p:ext uri="{BB962C8B-B14F-4D97-AF65-F5344CB8AC3E}">
        <p14:creationId xmlns:p14="http://schemas.microsoft.com/office/powerpoint/2010/main" val="26181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759C074E-0C1A-3BD9-838B-357B163B6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>
            <a:extLst>
              <a:ext uri="{FF2B5EF4-FFF2-40B4-BE49-F238E27FC236}">
                <a16:creationId xmlns:a16="http://schemas.microsoft.com/office/drawing/2014/main" id="{9F6C9E07-5AB4-7903-CEF4-498164378747}"/>
              </a:ext>
            </a:extLst>
          </p:cNvPr>
          <p:cNvPicPr preferRelativeResize="0"/>
          <p:nvPr/>
        </p:nvPicPr>
        <p:blipFill rotWithShape="1">
          <a:blip r:embed="rId3">
            <a:alphaModFix amt="6000"/>
          </a:blip>
          <a:srcRect t="20660"/>
          <a:stretch/>
        </p:blipFill>
        <p:spPr>
          <a:xfrm>
            <a:off x="0" y="0"/>
            <a:ext cx="9156751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>
            <a:extLst>
              <a:ext uri="{FF2B5EF4-FFF2-40B4-BE49-F238E27FC236}">
                <a16:creationId xmlns:a16="http://schemas.microsoft.com/office/drawing/2014/main" id="{8443FC9A-5CEE-8B37-4E8F-A496C2CB52D9}"/>
              </a:ext>
            </a:extLst>
          </p:cNvPr>
          <p:cNvSpPr txBox="1"/>
          <p:nvPr/>
        </p:nvSpPr>
        <p:spPr>
          <a:xfrm>
            <a:off x="2539950" y="408471"/>
            <a:ext cx="40641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rgbClr val="BF1736"/>
                </a:solidFill>
                <a:latin typeface="Alatsi"/>
                <a:ea typeface="Alatsi"/>
                <a:cs typeface="Alatsi"/>
                <a:sym typeface="Alatsi"/>
              </a:rPr>
              <a:t>Strengths</a:t>
            </a:r>
            <a:endParaRPr sz="3200" dirty="0">
              <a:solidFill>
                <a:srgbClr val="BF1736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pic>
        <p:nvPicPr>
          <p:cNvPr id="159" name="Google Shape;159;p17">
            <a:extLst>
              <a:ext uri="{FF2B5EF4-FFF2-40B4-BE49-F238E27FC236}">
                <a16:creationId xmlns:a16="http://schemas.microsoft.com/office/drawing/2014/main" id="{311D20DB-4B17-3D35-616A-ED5D3C068B6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3050917" cy="105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>
            <a:extLst>
              <a:ext uri="{FF2B5EF4-FFF2-40B4-BE49-F238E27FC236}">
                <a16:creationId xmlns:a16="http://schemas.microsoft.com/office/drawing/2014/main" id="{9CCCD929-3F83-60C6-6AB3-C5F69BD3CE8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5925" y="4721125"/>
            <a:ext cx="3038075" cy="4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>
            <a:extLst>
              <a:ext uri="{FF2B5EF4-FFF2-40B4-BE49-F238E27FC236}">
                <a16:creationId xmlns:a16="http://schemas.microsoft.com/office/drawing/2014/main" id="{4E93608E-9F60-7EAD-D033-C833E7EC4982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154663">
            <a:off x="611655" y="721950"/>
            <a:ext cx="1058489" cy="311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>
            <a:extLst>
              <a:ext uri="{FF2B5EF4-FFF2-40B4-BE49-F238E27FC236}">
                <a16:creationId xmlns:a16="http://schemas.microsoft.com/office/drawing/2014/main" id="{5E00C6C7-80BE-FD2B-6B9B-2268975B312D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489927">
            <a:off x="7133184" y="372745"/>
            <a:ext cx="573508" cy="448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>
            <a:extLst>
              <a:ext uri="{FF2B5EF4-FFF2-40B4-BE49-F238E27FC236}">
                <a16:creationId xmlns:a16="http://schemas.microsoft.com/office/drawing/2014/main" id="{AEB7ADB3-7F90-0372-0460-8DF5C8268F81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9116243">
            <a:off x="1085351" y="4245881"/>
            <a:ext cx="322500" cy="424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>
            <a:extLst>
              <a:ext uri="{FF2B5EF4-FFF2-40B4-BE49-F238E27FC236}">
                <a16:creationId xmlns:a16="http://schemas.microsoft.com/office/drawing/2014/main" id="{33C5B048-0BDB-0663-AA44-B0E11B6594DA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27550" y="4626506"/>
            <a:ext cx="484250" cy="267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>
            <a:extLst>
              <a:ext uri="{FF2B5EF4-FFF2-40B4-BE49-F238E27FC236}">
                <a16:creationId xmlns:a16="http://schemas.microsoft.com/office/drawing/2014/main" id="{2283E321-202B-8A9C-B192-D4A775E16816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-2347598">
            <a:off x="8244173" y="1004875"/>
            <a:ext cx="447450" cy="1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5">
            <a:extLst>
              <a:ext uri="{FF2B5EF4-FFF2-40B4-BE49-F238E27FC236}">
                <a16:creationId xmlns:a16="http://schemas.microsoft.com/office/drawing/2014/main" id="{2B304A9F-3FBE-F122-451D-98AB3742A4DB}"/>
              </a:ext>
            </a:extLst>
          </p:cNvPr>
          <p:cNvSpPr txBox="1"/>
          <p:nvPr/>
        </p:nvSpPr>
        <p:spPr>
          <a:xfrm>
            <a:off x="589897" y="1703023"/>
            <a:ext cx="5992702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Both simple model and advanced model exceeded MoneyPuck in test phase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Easy to use interface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Simple model requires limited data to exceed MoneyPuck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Easy to update with new data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Barlow"/>
                <a:ea typeface="Barlow"/>
                <a:cs typeface="Barlow"/>
                <a:sym typeface="Barlow"/>
              </a:rPr>
              <a:t>Guided by MoneyPuck’s tried and tested formula</a:t>
            </a:r>
            <a:endParaRPr lang="en-GB" dirty="0">
              <a:solidFill>
                <a:schemeClr val="tx1"/>
              </a:solidFill>
              <a:latin typeface="Barlow" panose="00000500000000000000" pitchFamily="2" charset="0"/>
              <a:ea typeface="Barlow"/>
              <a:cs typeface="Barlow"/>
              <a:sym typeface="Barlow"/>
            </a:endParaRPr>
          </a:p>
          <a:p>
            <a:pPr marL="1714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 dirty="0"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3186577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323E70D2-38E9-84E2-FA2C-572762E8A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>
            <a:extLst>
              <a:ext uri="{FF2B5EF4-FFF2-40B4-BE49-F238E27FC236}">
                <a16:creationId xmlns:a16="http://schemas.microsoft.com/office/drawing/2014/main" id="{F414C8EC-CDD4-EB17-0290-4FE7CDC0B68C}"/>
              </a:ext>
            </a:extLst>
          </p:cNvPr>
          <p:cNvPicPr preferRelativeResize="0"/>
          <p:nvPr/>
        </p:nvPicPr>
        <p:blipFill rotWithShape="1">
          <a:blip r:embed="rId3">
            <a:alphaModFix amt="6000"/>
          </a:blip>
          <a:srcRect t="20660"/>
          <a:stretch/>
        </p:blipFill>
        <p:spPr>
          <a:xfrm>
            <a:off x="0" y="0"/>
            <a:ext cx="9156751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>
            <a:extLst>
              <a:ext uri="{FF2B5EF4-FFF2-40B4-BE49-F238E27FC236}">
                <a16:creationId xmlns:a16="http://schemas.microsoft.com/office/drawing/2014/main" id="{6FCBA539-F9A1-4AC9-A46C-4ED364FC2878}"/>
              </a:ext>
            </a:extLst>
          </p:cNvPr>
          <p:cNvSpPr txBox="1"/>
          <p:nvPr/>
        </p:nvSpPr>
        <p:spPr>
          <a:xfrm>
            <a:off x="2931823" y="376273"/>
            <a:ext cx="40641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rgbClr val="BF1736"/>
                </a:solidFill>
                <a:latin typeface="Alatsi"/>
                <a:ea typeface="Alatsi"/>
                <a:cs typeface="Alatsi"/>
                <a:sym typeface="Alatsi"/>
              </a:rPr>
              <a:t>Future Directions</a:t>
            </a:r>
            <a:endParaRPr sz="3200" dirty="0">
              <a:solidFill>
                <a:srgbClr val="BF1736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pic>
        <p:nvPicPr>
          <p:cNvPr id="159" name="Google Shape;159;p17">
            <a:extLst>
              <a:ext uri="{FF2B5EF4-FFF2-40B4-BE49-F238E27FC236}">
                <a16:creationId xmlns:a16="http://schemas.microsoft.com/office/drawing/2014/main" id="{B86011B8-E6C0-238C-DCC5-654FA86AF7C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3050917" cy="105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>
            <a:extLst>
              <a:ext uri="{FF2B5EF4-FFF2-40B4-BE49-F238E27FC236}">
                <a16:creationId xmlns:a16="http://schemas.microsoft.com/office/drawing/2014/main" id="{CD4B7E02-05F6-F557-F20F-E7B87680424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5925" y="4721125"/>
            <a:ext cx="3038075" cy="4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>
            <a:extLst>
              <a:ext uri="{FF2B5EF4-FFF2-40B4-BE49-F238E27FC236}">
                <a16:creationId xmlns:a16="http://schemas.microsoft.com/office/drawing/2014/main" id="{16254D27-70A1-4D04-6C7E-624EE8C4A54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154663">
            <a:off x="611655" y="721950"/>
            <a:ext cx="1058489" cy="311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>
            <a:extLst>
              <a:ext uri="{FF2B5EF4-FFF2-40B4-BE49-F238E27FC236}">
                <a16:creationId xmlns:a16="http://schemas.microsoft.com/office/drawing/2014/main" id="{319519DB-AF16-3122-B15F-706398857AEB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489927">
            <a:off x="7133184" y="372745"/>
            <a:ext cx="573508" cy="448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>
            <a:extLst>
              <a:ext uri="{FF2B5EF4-FFF2-40B4-BE49-F238E27FC236}">
                <a16:creationId xmlns:a16="http://schemas.microsoft.com/office/drawing/2014/main" id="{A88DC6A4-77AB-B6CB-9673-4EFD322EEFB1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9116243">
            <a:off x="1085351" y="4245881"/>
            <a:ext cx="322500" cy="424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>
            <a:extLst>
              <a:ext uri="{FF2B5EF4-FFF2-40B4-BE49-F238E27FC236}">
                <a16:creationId xmlns:a16="http://schemas.microsoft.com/office/drawing/2014/main" id="{2854D282-45EF-E436-AFDC-31411C78D3BA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27550" y="4626506"/>
            <a:ext cx="484250" cy="267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>
            <a:extLst>
              <a:ext uri="{FF2B5EF4-FFF2-40B4-BE49-F238E27FC236}">
                <a16:creationId xmlns:a16="http://schemas.microsoft.com/office/drawing/2014/main" id="{6A1BACF0-F71A-6187-39E8-144A8F6D1526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-2347598">
            <a:off x="8244173" y="1004875"/>
            <a:ext cx="447450" cy="1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5">
            <a:extLst>
              <a:ext uri="{FF2B5EF4-FFF2-40B4-BE49-F238E27FC236}">
                <a16:creationId xmlns:a16="http://schemas.microsoft.com/office/drawing/2014/main" id="{1F998754-2717-0A6E-2CDC-D27DCE550661}"/>
              </a:ext>
            </a:extLst>
          </p:cNvPr>
          <p:cNvSpPr txBox="1"/>
          <p:nvPr/>
        </p:nvSpPr>
        <p:spPr>
          <a:xfrm>
            <a:off x="589897" y="1866083"/>
            <a:ext cx="5811348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Develop model to account for player injuries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Automate the model to predict the upcoming season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Allow for multiple games to be input at once</a:t>
            </a:r>
          </a:p>
          <a:p>
            <a:pPr marL="1714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Increase amount of test data</a:t>
            </a:r>
          </a:p>
        </p:txBody>
      </p:sp>
    </p:spTree>
    <p:extLst>
      <p:ext uri="{BB962C8B-B14F-4D97-AF65-F5344CB8AC3E}">
        <p14:creationId xmlns:p14="http://schemas.microsoft.com/office/powerpoint/2010/main" val="690694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D61FF468-6AC8-BA34-0D73-9548D37ED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>
            <a:extLst>
              <a:ext uri="{FF2B5EF4-FFF2-40B4-BE49-F238E27FC236}">
                <a16:creationId xmlns:a16="http://schemas.microsoft.com/office/drawing/2014/main" id="{2CF68080-0C4C-BB4C-6043-C575D2861F35}"/>
              </a:ext>
            </a:extLst>
          </p:cNvPr>
          <p:cNvPicPr preferRelativeResize="0"/>
          <p:nvPr/>
        </p:nvPicPr>
        <p:blipFill rotWithShape="1">
          <a:blip r:embed="rId3">
            <a:alphaModFix amt="6000"/>
          </a:blip>
          <a:srcRect t="20660"/>
          <a:stretch/>
        </p:blipFill>
        <p:spPr>
          <a:xfrm>
            <a:off x="0" y="0"/>
            <a:ext cx="9156751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>
            <a:extLst>
              <a:ext uri="{FF2B5EF4-FFF2-40B4-BE49-F238E27FC236}">
                <a16:creationId xmlns:a16="http://schemas.microsoft.com/office/drawing/2014/main" id="{84247BAA-CB6D-5110-C8E9-EF44F85FED8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4720" y="0"/>
            <a:ext cx="191878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>
            <a:extLst>
              <a:ext uri="{FF2B5EF4-FFF2-40B4-BE49-F238E27FC236}">
                <a16:creationId xmlns:a16="http://schemas.microsoft.com/office/drawing/2014/main" id="{23A21FBA-F09B-35E2-673C-31FD14D4EA4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2940" y="424105"/>
            <a:ext cx="8143851" cy="46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C112AD74-9720-DB10-AAA7-EC7EB33BBE94}"/>
              </a:ext>
            </a:extLst>
          </p:cNvPr>
          <p:cNvSpPr txBox="1"/>
          <p:nvPr/>
        </p:nvSpPr>
        <p:spPr>
          <a:xfrm>
            <a:off x="1033902" y="1216253"/>
            <a:ext cx="5481175" cy="313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 Created two models to predict NHL games using win percentage, scoring chances and goaltending</a:t>
            </a:r>
          </a:p>
          <a:p>
            <a:pPr marL="171450" lvl="0" indent="-1714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 Advanced model outperformed MoneyPuck and predicted at 46.7% accuracy overall</a:t>
            </a:r>
          </a:p>
          <a:p>
            <a:pPr marL="171450" lvl="0" indent="-1714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 Developed an app to host the model</a:t>
            </a:r>
          </a:p>
          <a:p>
            <a:pPr marL="171450" lvl="0" indent="-1714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1600" dirty="0">
                <a:latin typeface="Barlow"/>
                <a:ea typeface="Barlow"/>
                <a:cs typeface="Barlow"/>
                <a:sym typeface="Barlow"/>
              </a:rPr>
              <a:t> Could be used to inform commercial and media outlets, boost fan engagement and act as a stepping stone from an interest in ice hockey into data</a:t>
            </a:r>
            <a:endParaRPr sz="1600" dirty="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" name="Google Shape;146;p17">
            <a:extLst>
              <a:ext uri="{FF2B5EF4-FFF2-40B4-BE49-F238E27FC236}">
                <a16:creationId xmlns:a16="http://schemas.microsoft.com/office/drawing/2014/main" id="{20A45B87-55B6-0EF9-3D5D-4F384E789EF5}"/>
              </a:ext>
            </a:extLst>
          </p:cNvPr>
          <p:cNvSpPr txBox="1"/>
          <p:nvPr/>
        </p:nvSpPr>
        <p:spPr>
          <a:xfrm>
            <a:off x="1887970" y="376059"/>
            <a:ext cx="40641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rgbClr val="BF1736"/>
                </a:solidFill>
                <a:latin typeface="Alatsi"/>
                <a:ea typeface="Alatsi"/>
                <a:cs typeface="Alatsi"/>
                <a:sym typeface="Alatsi"/>
              </a:rPr>
              <a:t>Conclusion</a:t>
            </a:r>
            <a:endParaRPr sz="3200" dirty="0">
              <a:solidFill>
                <a:srgbClr val="BF1736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</p:spTree>
    <p:extLst>
      <p:ext uri="{BB962C8B-B14F-4D97-AF65-F5344CB8AC3E}">
        <p14:creationId xmlns:p14="http://schemas.microsoft.com/office/powerpoint/2010/main" val="198208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58">
          <a:extLst>
            <a:ext uri="{FF2B5EF4-FFF2-40B4-BE49-F238E27FC236}">
              <a16:creationId xmlns:a16="http://schemas.microsoft.com/office/drawing/2014/main" id="{899CABEC-F088-D1FE-3EF9-5D5CAA033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0">
            <a:extLst>
              <a:ext uri="{FF2B5EF4-FFF2-40B4-BE49-F238E27FC236}">
                <a16:creationId xmlns:a16="http://schemas.microsoft.com/office/drawing/2014/main" id="{A7EFC4C1-4DA3-E34D-61C7-A89EDD29EA9F}"/>
              </a:ext>
            </a:extLst>
          </p:cNvPr>
          <p:cNvPicPr preferRelativeResize="0"/>
          <p:nvPr/>
        </p:nvPicPr>
        <p:blipFill rotWithShape="1">
          <a:blip r:embed="rId3">
            <a:alphaModFix amt="6000"/>
          </a:blip>
          <a:srcRect t="20660"/>
          <a:stretch/>
        </p:blipFill>
        <p:spPr>
          <a:xfrm>
            <a:off x="0" y="0"/>
            <a:ext cx="9156751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0">
            <a:extLst>
              <a:ext uri="{FF2B5EF4-FFF2-40B4-BE49-F238E27FC236}">
                <a16:creationId xmlns:a16="http://schemas.microsoft.com/office/drawing/2014/main" id="{DAB7A5C6-C1B1-BA8E-EAB6-2043E4671E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" y="586375"/>
            <a:ext cx="3311023" cy="455712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>
            <a:extLst>
              <a:ext uri="{FF2B5EF4-FFF2-40B4-BE49-F238E27FC236}">
                <a16:creationId xmlns:a16="http://schemas.microsoft.com/office/drawing/2014/main" id="{51043E8C-A2C5-B8B5-B5E2-4158E8FC6522}"/>
              </a:ext>
            </a:extLst>
          </p:cNvPr>
          <p:cNvSpPr txBox="1"/>
          <p:nvPr/>
        </p:nvSpPr>
        <p:spPr>
          <a:xfrm>
            <a:off x="4419014" y="1695415"/>
            <a:ext cx="3665805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solidFill>
                  <a:srgbClr val="BF1736"/>
                </a:solidFill>
                <a:latin typeface="Alatsi"/>
                <a:ea typeface="Alatsi"/>
                <a:cs typeface="Alatsi"/>
                <a:sym typeface="Alatsi"/>
              </a:rPr>
              <a:t>Thank You</a:t>
            </a:r>
            <a:r>
              <a:rPr lang="en-GB" sz="3200" dirty="0">
                <a:solidFill>
                  <a:srgbClr val="BF1736"/>
                </a:solidFill>
                <a:latin typeface="Alatsi"/>
                <a:ea typeface="Alatsi"/>
                <a:cs typeface="Alatsi"/>
                <a:sym typeface="Alatsi"/>
              </a:rPr>
              <a:t> for Listening!</a:t>
            </a:r>
            <a:endParaRPr sz="3200" dirty="0">
              <a:solidFill>
                <a:srgbClr val="BF1736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pic>
        <p:nvPicPr>
          <p:cNvPr id="263" name="Google Shape;263;p20">
            <a:extLst>
              <a:ext uri="{FF2B5EF4-FFF2-40B4-BE49-F238E27FC236}">
                <a16:creationId xmlns:a16="http://schemas.microsoft.com/office/drawing/2014/main" id="{7F0CDCED-899E-F549-32FE-8724A56E61F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3507" r="13515"/>
          <a:stretch/>
        </p:blipFill>
        <p:spPr>
          <a:xfrm>
            <a:off x="843950" y="1091550"/>
            <a:ext cx="3241500" cy="2960400"/>
          </a:xfrm>
          <a:prstGeom prst="parallelogram">
            <a:avLst>
              <a:gd name="adj" fmla="val 17995"/>
            </a:avLst>
          </a:prstGeom>
          <a:noFill/>
          <a:ln>
            <a:noFill/>
          </a:ln>
        </p:spPr>
      </p:pic>
      <p:pic>
        <p:nvPicPr>
          <p:cNvPr id="264" name="Google Shape;264;p20">
            <a:extLst>
              <a:ext uri="{FF2B5EF4-FFF2-40B4-BE49-F238E27FC236}">
                <a16:creationId xmlns:a16="http://schemas.microsoft.com/office/drawing/2014/main" id="{20473D22-29E0-425B-7DA0-FCBDCA39592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71115" t="1442" r="14840" b="75656"/>
          <a:stretch/>
        </p:blipFill>
        <p:spPr>
          <a:xfrm>
            <a:off x="6526550" y="586375"/>
            <a:ext cx="844826" cy="7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0">
            <a:extLst>
              <a:ext uri="{FF2B5EF4-FFF2-40B4-BE49-F238E27FC236}">
                <a16:creationId xmlns:a16="http://schemas.microsoft.com/office/drawing/2014/main" id="{CF042715-8274-D460-588E-B84CAD76622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75113" t="28451" r="19699" b="23201"/>
          <a:stretch/>
        </p:blipFill>
        <p:spPr>
          <a:xfrm>
            <a:off x="8742453" y="1599775"/>
            <a:ext cx="414300" cy="2179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0">
            <a:extLst>
              <a:ext uri="{FF2B5EF4-FFF2-40B4-BE49-F238E27FC236}">
                <a16:creationId xmlns:a16="http://schemas.microsoft.com/office/drawing/2014/main" id="{01435A73-9DBF-1C87-8096-0D0A3C8E20A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r="88075" b="81852"/>
          <a:stretch/>
        </p:blipFill>
        <p:spPr>
          <a:xfrm rot="1026995">
            <a:off x="2128696" y="619275"/>
            <a:ext cx="952477" cy="81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0">
            <a:extLst>
              <a:ext uri="{FF2B5EF4-FFF2-40B4-BE49-F238E27FC236}">
                <a16:creationId xmlns:a16="http://schemas.microsoft.com/office/drawing/2014/main" id="{045DA29E-A264-3647-D983-0FDF8EDE4BF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91089" t="82160" b="6672"/>
          <a:stretch/>
        </p:blipFill>
        <p:spPr>
          <a:xfrm rot="334510">
            <a:off x="2795100" y="4335124"/>
            <a:ext cx="711729" cy="50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0">
            <a:extLst>
              <a:ext uri="{FF2B5EF4-FFF2-40B4-BE49-F238E27FC236}">
                <a16:creationId xmlns:a16="http://schemas.microsoft.com/office/drawing/2014/main" id="{D625AF7E-9A2F-1650-1B34-3B00C46915C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6193" t="82753" r="81917" b="6480"/>
          <a:stretch/>
        </p:blipFill>
        <p:spPr>
          <a:xfrm rot="1051560">
            <a:off x="7049919" y="4059814"/>
            <a:ext cx="778137" cy="3977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62;p20">
            <a:extLst>
              <a:ext uri="{FF2B5EF4-FFF2-40B4-BE49-F238E27FC236}">
                <a16:creationId xmlns:a16="http://schemas.microsoft.com/office/drawing/2014/main" id="{B4251619-810F-D378-FCE5-A5B3EF2C6429}"/>
              </a:ext>
            </a:extLst>
          </p:cNvPr>
          <p:cNvSpPr txBox="1"/>
          <p:nvPr/>
        </p:nvSpPr>
        <p:spPr>
          <a:xfrm>
            <a:off x="4419014" y="3274804"/>
            <a:ext cx="32121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BF1736"/>
                </a:solidFill>
                <a:latin typeface="Alatsi"/>
                <a:ea typeface="Alatsi"/>
                <a:cs typeface="Alatsi"/>
                <a:sym typeface="Alatsi"/>
              </a:rPr>
              <a:t>Any questions?</a:t>
            </a:r>
            <a:endParaRPr sz="2400" dirty="0">
              <a:solidFill>
                <a:srgbClr val="BF1736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</p:spTree>
    <p:extLst>
      <p:ext uri="{BB962C8B-B14F-4D97-AF65-F5344CB8AC3E}">
        <p14:creationId xmlns:p14="http://schemas.microsoft.com/office/powerpoint/2010/main" val="212875794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633</Words>
  <Application>Microsoft Office PowerPoint</Application>
  <PresentationFormat>On-screen Show (16:9)</PresentationFormat>
  <Paragraphs>85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Wingdings</vt:lpstr>
      <vt:lpstr>Arial</vt:lpstr>
      <vt:lpstr>Barlow</vt:lpstr>
      <vt:lpstr>Alatsi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Ashley Hatch</dc:creator>
  <cp:lastModifiedBy>Ashley Hatch</cp:lastModifiedBy>
  <cp:revision>27</cp:revision>
  <dcterms:modified xsi:type="dcterms:W3CDTF">2025-12-05T12:08:35Z</dcterms:modified>
</cp:coreProperties>
</file>